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Lst>
  <p:sldSz cy="8229600" cx="14630400"/>
  <p:notesSz cx="8229600" cy="14630400"/>
  <p:embeddedFontLst>
    <p:embeddedFont>
      <p:font typeface="Unbounded"/>
      <p:regular r:id="rId14"/>
      <p:bold r:id="rId15"/>
    </p:embeddedFont>
    <p:embeddedFont>
      <p:font typeface="Open Sans"/>
      <p:regular r:id="rId16"/>
      <p:bold r:id="rId17"/>
      <p:italic r:id="rId18"/>
      <p:boldItalic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font" Target="fonts/Unbounded-bold.fntdata"/><Relationship Id="rId14" Type="http://schemas.openxmlformats.org/officeDocument/2006/relationships/font" Target="fonts/Unbounded-regular.fntdata"/><Relationship Id="rId17" Type="http://schemas.openxmlformats.org/officeDocument/2006/relationships/font" Target="fonts/OpenSans-bold.fntdata"/><Relationship Id="rId16" Type="http://schemas.openxmlformats.org/officeDocument/2006/relationships/font" Target="fonts/OpenSans-regular.fntdata"/><Relationship Id="rId5" Type="http://schemas.openxmlformats.org/officeDocument/2006/relationships/slide" Target="slides/slide1.xml"/><Relationship Id="rId19" Type="http://schemas.openxmlformats.org/officeDocument/2006/relationships/font" Target="fonts/OpenSans-boldItalic.fntdata"/><Relationship Id="rId6" Type="http://schemas.openxmlformats.org/officeDocument/2006/relationships/slide" Target="slides/slide2.xml"/><Relationship Id="rId18" Type="http://schemas.openxmlformats.org/officeDocument/2006/relationships/font" Target="fonts/OpenSans-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t>‹#›</a:t>
            </a:fld>
            <a:endParaRPr b="0" i="0" sz="1200" u="none" cap="none" strike="noStrik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 name="Google Shape;40;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 name="Google Shape;52;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 name="Google Shape;68;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9" name="Google Shape;69;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5" name="Google Shape;85;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9" name="Google Shape;10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0" name="Google Shape;11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7" name="Google Shape;12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0" name="Google Shape;14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4" name="Google Shape;154;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3" name="Google Shape;183;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4" name="Google Shape;184;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1 master">
  <p:cSld name="Slide 1 master">
    <p:bg>
      <p:bgPr>
        <a:solidFill>
          <a:srgbClr val="000000"/>
        </a:solidFill>
      </p:bgPr>
    </p:bg>
    <p:spTree>
      <p:nvGrpSpPr>
        <p:cNvPr id="10" name="Shape 10"/>
        <p:cNvGrpSpPr/>
        <p:nvPr/>
      </p:nvGrpSpPr>
      <p:grpSpPr>
        <a:xfrm>
          <a:off x="0" y="0"/>
          <a:ext cx="0" cy="0"/>
          <a:chOff x="0" y="0"/>
          <a:chExt cx="0" cy="0"/>
        </a:xfrm>
      </p:grpSpPr>
      <p:sp>
        <p:nvSpPr>
          <p:cNvPr id="11" name="Google Shape;11;p2"/>
          <p:cNvSpPr/>
          <p:nvPr/>
        </p:nvSpPr>
        <p:spPr>
          <a:xfrm>
            <a:off x="0" y="0"/>
            <a:ext cx="14630400" cy="8229600"/>
          </a:xfrm>
          <a:prstGeom prst="rect">
            <a:avLst/>
          </a:prstGeom>
          <a:solidFill>
            <a:srgbClr val="D6F5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2 master">
  <p:cSld name="Slide 2 master">
    <p:bg>
      <p:bgPr>
        <a:solidFill>
          <a:srgbClr val="000000"/>
        </a:solidFill>
      </p:bgPr>
    </p:bg>
    <p:spTree>
      <p:nvGrpSpPr>
        <p:cNvPr id="13" name="Shape 13"/>
        <p:cNvGrpSpPr/>
        <p:nvPr/>
      </p:nvGrpSpPr>
      <p:grpSpPr>
        <a:xfrm>
          <a:off x="0" y="0"/>
          <a:ext cx="0" cy="0"/>
          <a:chOff x="0" y="0"/>
          <a:chExt cx="0" cy="0"/>
        </a:xfrm>
      </p:grpSpPr>
      <p:sp>
        <p:nvSpPr>
          <p:cNvPr id="14" name="Google Shape;14;p3"/>
          <p:cNvSpPr/>
          <p:nvPr/>
        </p:nvSpPr>
        <p:spPr>
          <a:xfrm>
            <a:off x="0" y="0"/>
            <a:ext cx="14630400" cy="8229600"/>
          </a:xfrm>
          <a:prstGeom prst="rect">
            <a:avLst/>
          </a:prstGeom>
          <a:solidFill>
            <a:srgbClr val="D6F5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3"/>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3 master">
  <p:cSld name="Slide 3 master">
    <p:bg>
      <p:bgPr>
        <a:solidFill>
          <a:srgbClr val="000000"/>
        </a:solidFill>
      </p:bgPr>
    </p:bg>
    <p:spTree>
      <p:nvGrpSpPr>
        <p:cNvPr id="16" name="Shape 16"/>
        <p:cNvGrpSpPr/>
        <p:nvPr/>
      </p:nvGrpSpPr>
      <p:grpSpPr>
        <a:xfrm>
          <a:off x="0" y="0"/>
          <a:ext cx="0" cy="0"/>
          <a:chOff x="0" y="0"/>
          <a:chExt cx="0" cy="0"/>
        </a:xfrm>
      </p:grpSpPr>
      <p:sp>
        <p:nvSpPr>
          <p:cNvPr id="17" name="Google Shape;17;p4"/>
          <p:cNvSpPr/>
          <p:nvPr/>
        </p:nvSpPr>
        <p:spPr>
          <a:xfrm>
            <a:off x="0" y="0"/>
            <a:ext cx="14630400" cy="8229600"/>
          </a:xfrm>
          <a:prstGeom prst="rect">
            <a:avLst/>
          </a:prstGeom>
          <a:solidFill>
            <a:srgbClr val="D6F5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4"/>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4 master">
  <p:cSld name="Slide 4 master">
    <p:bg>
      <p:bgPr>
        <a:solidFill>
          <a:srgbClr val="000000"/>
        </a:solidFill>
      </p:bgPr>
    </p:bg>
    <p:spTree>
      <p:nvGrpSpPr>
        <p:cNvPr id="19" name="Shape 19"/>
        <p:cNvGrpSpPr/>
        <p:nvPr/>
      </p:nvGrpSpPr>
      <p:grpSpPr>
        <a:xfrm>
          <a:off x="0" y="0"/>
          <a:ext cx="0" cy="0"/>
          <a:chOff x="0" y="0"/>
          <a:chExt cx="0" cy="0"/>
        </a:xfrm>
      </p:grpSpPr>
      <p:sp>
        <p:nvSpPr>
          <p:cNvPr id="20" name="Google Shape;20;p5"/>
          <p:cNvSpPr/>
          <p:nvPr/>
        </p:nvSpPr>
        <p:spPr>
          <a:xfrm>
            <a:off x="0" y="0"/>
            <a:ext cx="14630400" cy="8229600"/>
          </a:xfrm>
          <a:prstGeom prst="rect">
            <a:avLst/>
          </a:prstGeom>
          <a:solidFill>
            <a:srgbClr val="D6F5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5"/>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5 master">
  <p:cSld name="Slide 5 master">
    <p:bg>
      <p:bgPr>
        <a:solidFill>
          <a:srgbClr val="000000"/>
        </a:solidFill>
      </p:bgPr>
    </p:bg>
    <p:spTree>
      <p:nvGrpSpPr>
        <p:cNvPr id="22" name="Shape 22"/>
        <p:cNvGrpSpPr/>
        <p:nvPr/>
      </p:nvGrpSpPr>
      <p:grpSpPr>
        <a:xfrm>
          <a:off x="0" y="0"/>
          <a:ext cx="0" cy="0"/>
          <a:chOff x="0" y="0"/>
          <a:chExt cx="0" cy="0"/>
        </a:xfrm>
      </p:grpSpPr>
      <p:sp>
        <p:nvSpPr>
          <p:cNvPr id="23" name="Google Shape;23;p6"/>
          <p:cNvSpPr/>
          <p:nvPr/>
        </p:nvSpPr>
        <p:spPr>
          <a:xfrm>
            <a:off x="0" y="0"/>
            <a:ext cx="14630400" cy="8229600"/>
          </a:xfrm>
          <a:prstGeom prst="rect">
            <a:avLst/>
          </a:prstGeom>
          <a:solidFill>
            <a:srgbClr val="D6F5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6"/>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6 master">
  <p:cSld name="Slide 6 master">
    <p:bg>
      <p:bgPr>
        <a:solidFill>
          <a:srgbClr val="000000"/>
        </a:solidFill>
      </p:bgPr>
    </p:bg>
    <p:spTree>
      <p:nvGrpSpPr>
        <p:cNvPr id="25" name="Shape 25"/>
        <p:cNvGrpSpPr/>
        <p:nvPr/>
      </p:nvGrpSpPr>
      <p:grpSpPr>
        <a:xfrm>
          <a:off x="0" y="0"/>
          <a:ext cx="0" cy="0"/>
          <a:chOff x="0" y="0"/>
          <a:chExt cx="0" cy="0"/>
        </a:xfrm>
      </p:grpSpPr>
      <p:sp>
        <p:nvSpPr>
          <p:cNvPr id="26" name="Google Shape;26;p7"/>
          <p:cNvSpPr/>
          <p:nvPr/>
        </p:nvSpPr>
        <p:spPr>
          <a:xfrm>
            <a:off x="0" y="0"/>
            <a:ext cx="14630400" cy="8229600"/>
          </a:xfrm>
          <a:prstGeom prst="rect">
            <a:avLst/>
          </a:prstGeom>
          <a:solidFill>
            <a:srgbClr val="D6F5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7"/>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7 master">
  <p:cSld name="Slide 7 master">
    <p:bg>
      <p:bgPr>
        <a:solidFill>
          <a:srgbClr val="000000"/>
        </a:solidFill>
      </p:bgPr>
    </p:bg>
    <p:spTree>
      <p:nvGrpSpPr>
        <p:cNvPr id="28" name="Shape 28"/>
        <p:cNvGrpSpPr/>
        <p:nvPr/>
      </p:nvGrpSpPr>
      <p:grpSpPr>
        <a:xfrm>
          <a:off x="0" y="0"/>
          <a:ext cx="0" cy="0"/>
          <a:chOff x="0" y="0"/>
          <a:chExt cx="0" cy="0"/>
        </a:xfrm>
      </p:grpSpPr>
      <p:sp>
        <p:nvSpPr>
          <p:cNvPr id="29" name="Google Shape;29;p8"/>
          <p:cNvSpPr/>
          <p:nvPr/>
        </p:nvSpPr>
        <p:spPr>
          <a:xfrm>
            <a:off x="0" y="0"/>
            <a:ext cx="14630400" cy="8229600"/>
          </a:xfrm>
          <a:prstGeom prst="rect">
            <a:avLst/>
          </a:prstGeom>
          <a:solidFill>
            <a:srgbClr val="D6F5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8"/>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8 master">
  <p:cSld name="Slide 8 master">
    <p:bg>
      <p:bgPr>
        <a:solidFill>
          <a:srgbClr val="000000"/>
        </a:solidFill>
      </p:bgPr>
    </p:bg>
    <p:spTree>
      <p:nvGrpSpPr>
        <p:cNvPr id="31" name="Shape 31"/>
        <p:cNvGrpSpPr/>
        <p:nvPr/>
      </p:nvGrpSpPr>
      <p:grpSpPr>
        <a:xfrm>
          <a:off x="0" y="0"/>
          <a:ext cx="0" cy="0"/>
          <a:chOff x="0" y="0"/>
          <a:chExt cx="0" cy="0"/>
        </a:xfrm>
      </p:grpSpPr>
      <p:sp>
        <p:nvSpPr>
          <p:cNvPr id="32" name="Google Shape;32;p9"/>
          <p:cNvSpPr/>
          <p:nvPr/>
        </p:nvSpPr>
        <p:spPr>
          <a:xfrm>
            <a:off x="0" y="0"/>
            <a:ext cx="14630400" cy="8229600"/>
          </a:xfrm>
          <a:prstGeom prst="rect">
            <a:avLst/>
          </a:prstGeom>
          <a:solidFill>
            <a:srgbClr val="D6F5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9 master">
  <p:cSld name="Slide 9 master">
    <p:bg>
      <p:bgPr>
        <a:solidFill>
          <a:srgbClr val="000000"/>
        </a:solidFill>
      </p:bgPr>
    </p:bg>
    <p:spTree>
      <p:nvGrpSpPr>
        <p:cNvPr id="34" name="Shape 34"/>
        <p:cNvGrpSpPr/>
        <p:nvPr/>
      </p:nvGrpSpPr>
      <p:grpSpPr>
        <a:xfrm>
          <a:off x="0" y="0"/>
          <a:ext cx="0" cy="0"/>
          <a:chOff x="0" y="0"/>
          <a:chExt cx="0" cy="0"/>
        </a:xfrm>
      </p:grpSpPr>
      <p:sp>
        <p:nvSpPr>
          <p:cNvPr id="35" name="Google Shape;35;p10"/>
          <p:cNvSpPr/>
          <p:nvPr/>
        </p:nvSpPr>
        <p:spPr>
          <a:xfrm>
            <a:off x="0" y="0"/>
            <a:ext cx="14630400" cy="8229600"/>
          </a:xfrm>
          <a:prstGeom prst="rect">
            <a:avLst/>
          </a:prstGeom>
          <a:solidFill>
            <a:srgbClr val="D6F5E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10"/>
          <p:cNvSpPr/>
          <p:nvPr/>
        </p:nvSpPr>
        <p:spPr>
          <a:xfrm>
            <a:off x="0" y="0"/>
            <a:ext cx="14630400" cy="82296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37" name="Shape 3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5.png"/><Relationship Id="rId4" Type="http://schemas.openxmlformats.org/officeDocument/2006/relationships/image" Target="../media/image10.png"/><Relationship Id="rId5" Type="http://schemas.openxmlformats.org/officeDocument/2006/relationships/image" Target="../media/image8.png"/><Relationship Id="rId6"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1.png"/><Relationship Id="rId5"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 name="Shape 42"/>
        <p:cNvGrpSpPr/>
        <p:nvPr/>
      </p:nvGrpSpPr>
      <p:grpSpPr>
        <a:xfrm>
          <a:off x="0" y="0"/>
          <a:ext cx="0" cy="0"/>
          <a:chOff x="0" y="0"/>
          <a:chExt cx="0" cy="0"/>
        </a:xfrm>
      </p:grpSpPr>
      <p:pic>
        <p:nvPicPr>
          <p:cNvPr descr="preencoded.png" id="43" name="Google Shape;43;p12"/>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44" name="Google Shape;44;p12"/>
          <p:cNvSpPr/>
          <p:nvPr/>
        </p:nvSpPr>
        <p:spPr>
          <a:xfrm>
            <a:off x="6280190" y="794861"/>
            <a:ext cx="7556421" cy="2126337"/>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33F70"/>
              </a:buClr>
              <a:buSzPts val="4450"/>
              <a:buFont typeface="Unbounded"/>
              <a:buNone/>
            </a:pPr>
            <a:r>
              <a:rPr b="1" i="0" lang="en-US" sz="4450" u="none" cap="none" strike="noStrike">
                <a:solidFill>
                  <a:srgbClr val="333F70"/>
                </a:solidFill>
                <a:latin typeface="Unbounded"/>
                <a:ea typeface="Unbounded"/>
                <a:cs typeface="Unbounded"/>
                <a:sym typeface="Unbounded"/>
              </a:rPr>
              <a:t>Architecture Decision Record (ADR) Process Guide</a:t>
            </a:r>
            <a:endParaRPr b="0" i="0" sz="4450" u="none" cap="none" strike="noStrike"/>
          </a:p>
        </p:txBody>
      </p:sp>
      <p:sp>
        <p:nvSpPr>
          <p:cNvPr id="45" name="Google Shape;45;p12"/>
          <p:cNvSpPr/>
          <p:nvPr/>
        </p:nvSpPr>
        <p:spPr>
          <a:xfrm>
            <a:off x="6280190" y="3261360"/>
            <a:ext cx="7556421"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333F70"/>
              </a:buClr>
              <a:buSzPts val="1750"/>
              <a:buFont typeface="Open Sans"/>
              <a:buNone/>
            </a:pPr>
            <a:r>
              <a:rPr b="0" i="0" lang="en-US" sz="1750" u="none" cap="none" strike="noStrike">
                <a:solidFill>
                  <a:srgbClr val="333F70"/>
                </a:solidFill>
                <a:latin typeface="Open Sans"/>
                <a:ea typeface="Open Sans"/>
                <a:cs typeface="Open Sans"/>
                <a:sym typeface="Open Sans"/>
              </a:rPr>
              <a:t>Every significant technical decision shapes your organization's future. Architecture Decision Records (ADRs) provide a structured approach to capturing these crucial decisions, their context, and rationale. This presentation outlines our ADR submission and review process designed to balance thoroughness with efficiency.</a:t>
            </a:r>
            <a:endParaRPr b="0" i="0" sz="1750" u="none" cap="none" strike="noStrike"/>
          </a:p>
        </p:txBody>
      </p:sp>
      <p:sp>
        <p:nvSpPr>
          <p:cNvPr id="46" name="Google Shape;46;p12"/>
          <p:cNvSpPr/>
          <p:nvPr/>
        </p:nvSpPr>
        <p:spPr>
          <a:xfrm>
            <a:off x="6280190" y="5331023"/>
            <a:ext cx="7556421" cy="1451610"/>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333F70"/>
              </a:buClr>
              <a:buSzPts val="1750"/>
              <a:buFont typeface="Open Sans"/>
              <a:buNone/>
            </a:pPr>
            <a:r>
              <a:rPr b="0" i="0" lang="en-US" sz="1750" u="none" cap="none" strike="noStrike">
                <a:solidFill>
                  <a:srgbClr val="333F70"/>
                </a:solidFill>
                <a:latin typeface="Open Sans"/>
                <a:ea typeface="Open Sans"/>
                <a:cs typeface="Open Sans"/>
                <a:sym typeface="Open Sans"/>
              </a:rPr>
              <a:t>By adopting this ADR process, your team will gain clearer documentation, improved knowledge sharing, better stakeholder alignment, and a historical record that prevents repeated debates. Let's explore how this streamlined process works.</a:t>
            </a:r>
            <a:endParaRPr b="0" i="0" sz="1750" u="none" cap="none" strike="noStrike"/>
          </a:p>
        </p:txBody>
      </p:sp>
      <p:sp>
        <p:nvSpPr>
          <p:cNvPr id="47" name="Google Shape;47;p12"/>
          <p:cNvSpPr/>
          <p:nvPr/>
        </p:nvSpPr>
        <p:spPr>
          <a:xfrm>
            <a:off x="6280190" y="7054691"/>
            <a:ext cx="362903" cy="362903"/>
          </a:xfrm>
          <a:prstGeom prst="roundRect">
            <a:avLst>
              <a:gd fmla="val 25194296" name="adj"/>
            </a:avLst>
          </a:prstGeom>
          <a:no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8" name="Google Shape;48;p12"/>
          <p:cNvPicPr preferRelativeResize="0"/>
          <p:nvPr/>
        </p:nvPicPr>
        <p:blipFill rotWithShape="1">
          <a:blip r:embed="rId4">
            <a:alphaModFix/>
          </a:blip>
          <a:srcRect b="0" l="0" r="0" t="0"/>
          <a:stretch/>
        </p:blipFill>
        <p:spPr>
          <a:xfrm>
            <a:off x="6287810" y="7062311"/>
            <a:ext cx="347663" cy="347663"/>
          </a:xfrm>
          <a:prstGeom prst="rect">
            <a:avLst/>
          </a:prstGeom>
          <a:noFill/>
          <a:ln>
            <a:noFill/>
          </a:ln>
        </p:spPr>
      </p:pic>
      <p:sp>
        <p:nvSpPr>
          <p:cNvPr id="49" name="Google Shape;49;p12"/>
          <p:cNvSpPr/>
          <p:nvPr/>
        </p:nvSpPr>
        <p:spPr>
          <a:xfrm>
            <a:off x="6756440" y="7037784"/>
            <a:ext cx="2346246" cy="396835"/>
          </a:xfrm>
          <a:prstGeom prst="rect">
            <a:avLst/>
          </a:prstGeom>
          <a:noFill/>
          <a:ln>
            <a:noFill/>
          </a:ln>
        </p:spPr>
        <p:txBody>
          <a:bodyPr anchorCtr="0" anchor="t" bIns="0" lIns="0" spcFirstLastPara="1" rIns="0" wrap="square" tIns="0">
            <a:noAutofit/>
          </a:bodyPr>
          <a:lstStyle/>
          <a:p>
            <a:pPr indent="0" lvl="0" marL="0" marR="0" rtl="0" algn="l">
              <a:lnSpc>
                <a:spcPct val="140909"/>
              </a:lnSpc>
              <a:spcBef>
                <a:spcPts val="0"/>
              </a:spcBef>
              <a:spcAft>
                <a:spcPts val="0"/>
              </a:spcAft>
              <a:buClr>
                <a:srgbClr val="333F70"/>
              </a:buClr>
              <a:buSzPts val="2200"/>
              <a:buFont typeface="Open Sans"/>
              <a:buNone/>
            </a:pPr>
            <a:r>
              <a:rPr b="1" i="0" lang="en-US" sz="2200" u="none" cap="none" strike="noStrike">
                <a:solidFill>
                  <a:srgbClr val="333F70"/>
                </a:solidFill>
                <a:latin typeface="Open Sans"/>
                <a:ea typeface="Open Sans"/>
                <a:cs typeface="Open Sans"/>
                <a:sym typeface="Open Sans"/>
              </a:rPr>
              <a:t>by Ryan Gibbons</a:t>
            </a:r>
            <a:endParaRPr b="0" i="0" sz="2200" u="none" cap="none" strike="noStrike"/>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pic>
        <p:nvPicPr>
          <p:cNvPr descr="preencoded.png" id="55" name="Google Shape;55;p13"/>
          <p:cNvPicPr preferRelativeResize="0"/>
          <p:nvPr/>
        </p:nvPicPr>
        <p:blipFill rotWithShape="1">
          <a:blip r:embed="rId3">
            <a:alphaModFix/>
          </a:blip>
          <a:srcRect b="0" l="0" r="0" t="0"/>
          <a:stretch/>
        </p:blipFill>
        <p:spPr>
          <a:xfrm>
            <a:off x="0" y="0"/>
            <a:ext cx="14630400" cy="2693551"/>
          </a:xfrm>
          <a:prstGeom prst="rect">
            <a:avLst/>
          </a:prstGeom>
          <a:noFill/>
          <a:ln>
            <a:noFill/>
          </a:ln>
        </p:spPr>
      </p:pic>
      <p:sp>
        <p:nvSpPr>
          <p:cNvPr id="56" name="Google Shape;56;p13"/>
          <p:cNvSpPr/>
          <p:nvPr/>
        </p:nvSpPr>
        <p:spPr>
          <a:xfrm>
            <a:off x="793790" y="3448288"/>
            <a:ext cx="10371058" cy="673418"/>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333F70"/>
              </a:buClr>
              <a:buSzPts val="4200"/>
              <a:buFont typeface="Unbounded"/>
              <a:buNone/>
            </a:pPr>
            <a:r>
              <a:rPr b="1" i="0" lang="en-US" sz="4200" u="none" cap="none" strike="noStrike">
                <a:solidFill>
                  <a:srgbClr val="333F70"/>
                </a:solidFill>
                <a:latin typeface="Unbounded"/>
                <a:ea typeface="Unbounded"/>
                <a:cs typeface="Unbounded"/>
                <a:sym typeface="Unbounded"/>
              </a:rPr>
              <a:t>ADR Initiation: Getting Started</a:t>
            </a:r>
            <a:endParaRPr b="0" i="0" sz="4200" u="none" cap="none" strike="noStrike"/>
          </a:p>
        </p:txBody>
      </p:sp>
      <p:sp>
        <p:nvSpPr>
          <p:cNvPr id="57" name="Google Shape;57;p13"/>
          <p:cNvSpPr/>
          <p:nvPr/>
        </p:nvSpPr>
        <p:spPr>
          <a:xfrm>
            <a:off x="793790" y="5091232"/>
            <a:ext cx="4132183" cy="215384"/>
          </a:xfrm>
          <a:prstGeom prst="roundRect">
            <a:avLst>
              <a:gd fmla="val 42020"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3"/>
          <p:cNvSpPr/>
          <p:nvPr/>
        </p:nvSpPr>
        <p:spPr>
          <a:xfrm>
            <a:off x="793790" y="5629751"/>
            <a:ext cx="3791426" cy="33659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333F70"/>
              </a:buClr>
              <a:buSzPts val="2100"/>
              <a:buFont typeface="Unbounded"/>
              <a:buNone/>
            </a:pPr>
            <a:r>
              <a:rPr b="1" i="0" lang="en-US" sz="2100" u="none" cap="none" strike="noStrike">
                <a:solidFill>
                  <a:srgbClr val="333F70"/>
                </a:solidFill>
                <a:latin typeface="Unbounded"/>
                <a:ea typeface="Unbounded"/>
                <a:cs typeface="Unbounded"/>
                <a:sym typeface="Unbounded"/>
              </a:rPr>
              <a:t>Identify Decision Point</a:t>
            </a:r>
            <a:endParaRPr b="0" i="0" sz="2100" u="none" cap="none" strike="noStrike"/>
          </a:p>
        </p:txBody>
      </p:sp>
      <p:sp>
        <p:nvSpPr>
          <p:cNvPr id="59" name="Google Shape;59;p13"/>
          <p:cNvSpPr/>
          <p:nvPr/>
        </p:nvSpPr>
        <p:spPr>
          <a:xfrm>
            <a:off x="793790" y="6095524"/>
            <a:ext cx="4132183" cy="137922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33F70"/>
              </a:buClr>
              <a:buSzPts val="1650"/>
              <a:buFont typeface="Open Sans"/>
              <a:buNone/>
            </a:pPr>
            <a:r>
              <a:rPr b="0" i="0" lang="en-US" sz="1650" u="none" cap="none" strike="noStrike">
                <a:solidFill>
                  <a:srgbClr val="333F70"/>
                </a:solidFill>
                <a:latin typeface="Open Sans"/>
                <a:ea typeface="Open Sans"/>
                <a:cs typeface="Open Sans"/>
                <a:sym typeface="Open Sans"/>
              </a:rPr>
              <a:t>Recognize situations that warrant an ADR, such as significant design changes, technology stack decisions, architectural refactoring, or process enhancements.</a:t>
            </a:r>
            <a:endParaRPr b="0" i="0" sz="1650" u="none" cap="none" strike="noStrike"/>
          </a:p>
        </p:txBody>
      </p:sp>
      <p:sp>
        <p:nvSpPr>
          <p:cNvPr id="60" name="Google Shape;60;p13"/>
          <p:cNvSpPr/>
          <p:nvPr/>
        </p:nvSpPr>
        <p:spPr>
          <a:xfrm>
            <a:off x="5249108" y="4767977"/>
            <a:ext cx="4132183" cy="215384"/>
          </a:xfrm>
          <a:prstGeom prst="roundRect">
            <a:avLst>
              <a:gd fmla="val 42020"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13"/>
          <p:cNvSpPr/>
          <p:nvPr/>
        </p:nvSpPr>
        <p:spPr>
          <a:xfrm>
            <a:off x="5249108" y="5306497"/>
            <a:ext cx="2693551" cy="33659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333F70"/>
              </a:buClr>
              <a:buSzPts val="2100"/>
              <a:buFont typeface="Unbounded"/>
              <a:buNone/>
            </a:pPr>
            <a:r>
              <a:rPr b="1" i="0" lang="en-US" sz="2100" u="none" cap="none" strike="noStrike">
                <a:solidFill>
                  <a:srgbClr val="333F70"/>
                </a:solidFill>
                <a:latin typeface="Unbounded"/>
                <a:ea typeface="Unbounded"/>
                <a:cs typeface="Unbounded"/>
                <a:sym typeface="Unbounded"/>
              </a:rPr>
              <a:t>Draft Your ADR</a:t>
            </a:r>
            <a:endParaRPr b="0" i="0" sz="2100" u="none" cap="none" strike="noStrike"/>
          </a:p>
        </p:txBody>
      </p:sp>
      <p:sp>
        <p:nvSpPr>
          <p:cNvPr id="62" name="Google Shape;62;p13"/>
          <p:cNvSpPr/>
          <p:nvPr/>
        </p:nvSpPr>
        <p:spPr>
          <a:xfrm>
            <a:off x="5249108" y="5772269"/>
            <a:ext cx="4132183" cy="1379220"/>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33F70"/>
              </a:buClr>
              <a:buSzPts val="1650"/>
              <a:buFont typeface="Open Sans"/>
              <a:buNone/>
            </a:pPr>
            <a:r>
              <a:rPr b="0" i="0" lang="en-US" sz="1650" u="none" cap="none" strike="noStrike">
                <a:solidFill>
                  <a:srgbClr val="333F70"/>
                </a:solidFill>
                <a:latin typeface="Open Sans"/>
                <a:ea typeface="Open Sans"/>
                <a:cs typeface="Open Sans"/>
                <a:sym typeface="Open Sans"/>
              </a:rPr>
              <a:t>Document the context, considered alternatives, decision rationale, and implementation plans in a clear, concise manner.</a:t>
            </a:r>
            <a:endParaRPr b="0" i="0" sz="1650" u="none" cap="none" strike="noStrike"/>
          </a:p>
        </p:txBody>
      </p:sp>
      <p:sp>
        <p:nvSpPr>
          <p:cNvPr id="63" name="Google Shape;63;p13"/>
          <p:cNvSpPr/>
          <p:nvPr/>
        </p:nvSpPr>
        <p:spPr>
          <a:xfrm>
            <a:off x="9704427" y="4444841"/>
            <a:ext cx="4132183" cy="215384"/>
          </a:xfrm>
          <a:prstGeom prst="roundRect">
            <a:avLst>
              <a:gd fmla="val 42020"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13"/>
          <p:cNvSpPr/>
          <p:nvPr/>
        </p:nvSpPr>
        <p:spPr>
          <a:xfrm>
            <a:off x="9704427" y="4983361"/>
            <a:ext cx="3067050" cy="336590"/>
          </a:xfrm>
          <a:prstGeom prst="rect">
            <a:avLst/>
          </a:prstGeom>
          <a:noFill/>
          <a:ln>
            <a:noFill/>
          </a:ln>
        </p:spPr>
        <p:txBody>
          <a:bodyPr anchorCtr="0" anchor="t" bIns="0" lIns="0" spcFirstLastPara="1" rIns="0" wrap="square" tIns="0">
            <a:noAutofit/>
          </a:bodyPr>
          <a:lstStyle/>
          <a:p>
            <a:pPr indent="0" lvl="0" marL="0" marR="0" rtl="0" algn="l">
              <a:lnSpc>
                <a:spcPct val="126190"/>
              </a:lnSpc>
              <a:spcBef>
                <a:spcPts val="0"/>
              </a:spcBef>
              <a:spcAft>
                <a:spcPts val="0"/>
              </a:spcAft>
              <a:buClr>
                <a:srgbClr val="333F70"/>
              </a:buClr>
              <a:buSzPts val="2100"/>
              <a:buFont typeface="Unbounded"/>
              <a:buNone/>
            </a:pPr>
            <a:r>
              <a:rPr b="1" i="0" lang="en-US" sz="2100" u="none" cap="none" strike="noStrike">
                <a:solidFill>
                  <a:srgbClr val="333F70"/>
                </a:solidFill>
                <a:latin typeface="Unbounded"/>
                <a:ea typeface="Unbounded"/>
                <a:cs typeface="Unbounded"/>
                <a:sym typeface="Unbounded"/>
              </a:rPr>
              <a:t>Submit for Review</a:t>
            </a:r>
            <a:endParaRPr b="0" i="0" sz="2100" u="none" cap="none" strike="noStrike"/>
          </a:p>
        </p:txBody>
      </p:sp>
      <p:sp>
        <p:nvSpPr>
          <p:cNvPr id="65" name="Google Shape;65;p13"/>
          <p:cNvSpPr/>
          <p:nvPr/>
        </p:nvSpPr>
        <p:spPr>
          <a:xfrm>
            <a:off x="9704427" y="5449133"/>
            <a:ext cx="4132183" cy="1034415"/>
          </a:xfrm>
          <a:prstGeom prst="rect">
            <a:avLst/>
          </a:prstGeom>
          <a:noFill/>
          <a:ln>
            <a:noFill/>
          </a:ln>
        </p:spPr>
        <p:txBody>
          <a:bodyPr anchorCtr="0" anchor="t" bIns="0" lIns="0" spcFirstLastPara="1" rIns="0" wrap="square" tIns="0">
            <a:noAutofit/>
          </a:bodyPr>
          <a:lstStyle/>
          <a:p>
            <a:pPr indent="0" lvl="0" marL="0" marR="0" rtl="0" algn="l">
              <a:lnSpc>
                <a:spcPct val="163636"/>
              </a:lnSpc>
              <a:spcBef>
                <a:spcPts val="0"/>
              </a:spcBef>
              <a:spcAft>
                <a:spcPts val="0"/>
              </a:spcAft>
              <a:buClr>
                <a:srgbClr val="333F70"/>
              </a:buClr>
              <a:buSzPts val="1650"/>
              <a:buFont typeface="Open Sans"/>
              <a:buNone/>
            </a:pPr>
            <a:r>
              <a:rPr b="0" i="0" lang="en-US" sz="1650" u="none" cap="none" strike="noStrike">
                <a:solidFill>
                  <a:srgbClr val="333F70"/>
                </a:solidFill>
                <a:latin typeface="Open Sans"/>
                <a:ea typeface="Open Sans"/>
                <a:cs typeface="Open Sans"/>
                <a:sym typeface="Open Sans"/>
              </a:rPr>
              <a:t>Any associate within the organization may initiate an ADR without needing special permissions or authority.</a:t>
            </a:r>
            <a:endParaRPr b="0" i="0" sz="1650" u="none" cap="none" strike="noStrike"/>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pic>
        <p:nvPicPr>
          <p:cNvPr descr="preencoded.png" id="71" name="Google Shape;71;p14"/>
          <p:cNvPicPr preferRelativeResize="0"/>
          <p:nvPr/>
        </p:nvPicPr>
        <p:blipFill rotWithShape="1">
          <a:blip r:embed="rId3">
            <a:alphaModFix/>
          </a:blip>
          <a:srcRect b="0" l="0" r="0" t="0"/>
          <a:stretch/>
        </p:blipFill>
        <p:spPr>
          <a:xfrm>
            <a:off x="0" y="0"/>
            <a:ext cx="14630400" cy="2394466"/>
          </a:xfrm>
          <a:prstGeom prst="rect">
            <a:avLst/>
          </a:prstGeom>
          <a:noFill/>
          <a:ln>
            <a:noFill/>
          </a:ln>
        </p:spPr>
      </p:pic>
      <p:sp>
        <p:nvSpPr>
          <p:cNvPr id="72" name="Google Shape;72;p14"/>
          <p:cNvSpPr/>
          <p:nvPr/>
        </p:nvSpPr>
        <p:spPr>
          <a:xfrm>
            <a:off x="788670" y="3014186"/>
            <a:ext cx="11059597" cy="598527"/>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333F70"/>
              </a:buClr>
              <a:buSzPts val="3750"/>
              <a:buFont typeface="Unbounded"/>
              <a:buNone/>
            </a:pPr>
            <a:r>
              <a:rPr b="1" i="0" lang="en-US" sz="3750" u="none" cap="none" strike="noStrike">
                <a:solidFill>
                  <a:srgbClr val="333F70"/>
                </a:solidFill>
                <a:latin typeface="Unbounded"/>
                <a:ea typeface="Unbounded"/>
                <a:cs typeface="Unbounded"/>
                <a:sym typeface="Unbounded"/>
              </a:rPr>
              <a:t>Publication and Notification Process</a:t>
            </a:r>
            <a:endParaRPr b="0" i="0" sz="3750" u="none" cap="none" strike="noStrike"/>
          </a:p>
        </p:txBody>
      </p:sp>
      <p:pic>
        <p:nvPicPr>
          <p:cNvPr descr="preencoded.png" id="73" name="Google Shape;73;p14"/>
          <p:cNvPicPr preferRelativeResize="0"/>
          <p:nvPr/>
        </p:nvPicPr>
        <p:blipFill rotWithShape="1">
          <a:blip r:embed="rId4">
            <a:alphaModFix/>
          </a:blip>
          <a:srcRect b="0" l="0" r="0" t="0"/>
          <a:stretch/>
        </p:blipFill>
        <p:spPr>
          <a:xfrm>
            <a:off x="788670" y="3900011"/>
            <a:ext cx="4351020" cy="766167"/>
          </a:xfrm>
          <a:prstGeom prst="rect">
            <a:avLst/>
          </a:prstGeom>
          <a:noFill/>
          <a:ln>
            <a:noFill/>
          </a:ln>
        </p:spPr>
      </p:pic>
      <p:sp>
        <p:nvSpPr>
          <p:cNvPr id="74" name="Google Shape;74;p14"/>
          <p:cNvSpPr/>
          <p:nvPr/>
        </p:nvSpPr>
        <p:spPr>
          <a:xfrm>
            <a:off x="980122" y="4953476"/>
            <a:ext cx="2394466" cy="299204"/>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333F70"/>
              </a:buClr>
              <a:buSzPts val="1850"/>
              <a:buFont typeface="Unbounded"/>
              <a:buNone/>
            </a:pPr>
            <a:r>
              <a:rPr b="1" i="0" lang="en-US" sz="1850" u="none" cap="none" strike="noStrike">
                <a:solidFill>
                  <a:srgbClr val="333F70"/>
                </a:solidFill>
                <a:latin typeface="Unbounded"/>
                <a:ea typeface="Unbounded"/>
                <a:cs typeface="Unbounded"/>
                <a:sym typeface="Unbounded"/>
              </a:rPr>
              <a:t>Draft ADR</a:t>
            </a:r>
            <a:endParaRPr b="0" i="0" sz="1850" u="none" cap="none" strike="noStrike"/>
          </a:p>
        </p:txBody>
      </p:sp>
      <p:sp>
        <p:nvSpPr>
          <p:cNvPr id="75" name="Google Shape;75;p14"/>
          <p:cNvSpPr/>
          <p:nvPr/>
        </p:nvSpPr>
        <p:spPr>
          <a:xfrm>
            <a:off x="980122" y="5367576"/>
            <a:ext cx="3968115" cy="91940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500"/>
              <a:buFont typeface="Open Sans"/>
              <a:buNone/>
            </a:pPr>
            <a:r>
              <a:rPr b="0" i="0" lang="en-US" sz="1500" u="none" cap="none" strike="noStrike">
                <a:solidFill>
                  <a:srgbClr val="333F70"/>
                </a:solidFill>
                <a:latin typeface="Open Sans"/>
                <a:ea typeface="Open Sans"/>
                <a:cs typeface="Open Sans"/>
                <a:sym typeface="Open Sans"/>
              </a:rPr>
              <a:t>Create your Architecture Decision Record following the standard template on your local environment.</a:t>
            </a:r>
            <a:endParaRPr b="0" i="0" sz="1500" u="none" cap="none" strike="noStrike"/>
          </a:p>
        </p:txBody>
      </p:sp>
      <p:pic>
        <p:nvPicPr>
          <p:cNvPr descr="preencoded.png" id="76" name="Google Shape;76;p14"/>
          <p:cNvPicPr preferRelativeResize="0"/>
          <p:nvPr/>
        </p:nvPicPr>
        <p:blipFill rotWithShape="1">
          <a:blip r:embed="rId5">
            <a:alphaModFix/>
          </a:blip>
          <a:srcRect b="0" l="0" r="0" t="0"/>
          <a:stretch/>
        </p:blipFill>
        <p:spPr>
          <a:xfrm>
            <a:off x="5139690" y="3900011"/>
            <a:ext cx="4351020" cy="766167"/>
          </a:xfrm>
          <a:prstGeom prst="rect">
            <a:avLst/>
          </a:prstGeom>
          <a:noFill/>
          <a:ln>
            <a:noFill/>
          </a:ln>
        </p:spPr>
      </p:pic>
      <p:sp>
        <p:nvSpPr>
          <p:cNvPr id="77" name="Google Shape;77;p14"/>
          <p:cNvSpPr/>
          <p:nvPr/>
        </p:nvSpPr>
        <p:spPr>
          <a:xfrm>
            <a:off x="5331143" y="4953476"/>
            <a:ext cx="3257907" cy="299204"/>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333F70"/>
              </a:buClr>
              <a:buSzPts val="1850"/>
              <a:buFont typeface="Unbounded"/>
              <a:buNone/>
            </a:pPr>
            <a:r>
              <a:rPr b="1" i="0" lang="en-US" sz="1850" u="none" cap="none" strike="noStrike">
                <a:solidFill>
                  <a:srgbClr val="333F70"/>
                </a:solidFill>
                <a:latin typeface="Unbounded"/>
                <a:ea typeface="Unbounded"/>
                <a:cs typeface="Unbounded"/>
                <a:sym typeface="Unbounded"/>
              </a:rPr>
              <a:t>Publish to Confluence</a:t>
            </a:r>
            <a:endParaRPr b="0" i="0" sz="1850" u="none" cap="none" strike="noStrike"/>
          </a:p>
        </p:txBody>
      </p:sp>
      <p:sp>
        <p:nvSpPr>
          <p:cNvPr id="78" name="Google Shape;78;p14"/>
          <p:cNvSpPr/>
          <p:nvPr/>
        </p:nvSpPr>
        <p:spPr>
          <a:xfrm>
            <a:off x="5331143" y="5367576"/>
            <a:ext cx="3968115" cy="122586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500"/>
              <a:buFont typeface="Open Sans"/>
              <a:buNone/>
            </a:pPr>
            <a:r>
              <a:rPr b="0" i="0" lang="en-US" sz="1500" u="none" cap="none" strike="noStrike">
                <a:solidFill>
                  <a:srgbClr val="333F70"/>
                </a:solidFill>
                <a:latin typeface="Open Sans"/>
                <a:ea typeface="Open Sans"/>
                <a:cs typeface="Open Sans"/>
                <a:sym typeface="Open Sans"/>
              </a:rPr>
              <a:t>Upload the completed ADR to the designated Confluence ADR submission site where it becomes visible to the organization.</a:t>
            </a:r>
            <a:endParaRPr b="0" i="0" sz="1500" u="none" cap="none" strike="noStrike"/>
          </a:p>
        </p:txBody>
      </p:sp>
      <p:pic>
        <p:nvPicPr>
          <p:cNvPr descr="preencoded.png" id="79" name="Google Shape;79;p14"/>
          <p:cNvPicPr preferRelativeResize="0"/>
          <p:nvPr/>
        </p:nvPicPr>
        <p:blipFill rotWithShape="1">
          <a:blip r:embed="rId6">
            <a:alphaModFix/>
          </a:blip>
          <a:srcRect b="0" l="0" r="0" t="0"/>
          <a:stretch/>
        </p:blipFill>
        <p:spPr>
          <a:xfrm>
            <a:off x="9490710" y="3900011"/>
            <a:ext cx="4351020" cy="766167"/>
          </a:xfrm>
          <a:prstGeom prst="rect">
            <a:avLst/>
          </a:prstGeom>
          <a:noFill/>
          <a:ln>
            <a:noFill/>
          </a:ln>
        </p:spPr>
      </p:pic>
      <p:sp>
        <p:nvSpPr>
          <p:cNvPr id="80" name="Google Shape;80;p14"/>
          <p:cNvSpPr/>
          <p:nvPr/>
        </p:nvSpPr>
        <p:spPr>
          <a:xfrm>
            <a:off x="9682163" y="4953476"/>
            <a:ext cx="2394466" cy="299204"/>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333F70"/>
              </a:buClr>
              <a:buSzPts val="1850"/>
              <a:buFont typeface="Unbounded"/>
              <a:buNone/>
            </a:pPr>
            <a:r>
              <a:rPr b="1" i="0" lang="en-US" sz="1850" u="none" cap="none" strike="noStrike">
                <a:solidFill>
                  <a:srgbClr val="333F70"/>
                </a:solidFill>
                <a:latin typeface="Unbounded"/>
                <a:ea typeface="Unbounded"/>
                <a:cs typeface="Unbounded"/>
                <a:sym typeface="Unbounded"/>
              </a:rPr>
              <a:t>Share in Slack</a:t>
            </a:r>
            <a:endParaRPr b="0" i="0" sz="1850" u="none" cap="none" strike="noStrike"/>
          </a:p>
        </p:txBody>
      </p:sp>
      <p:sp>
        <p:nvSpPr>
          <p:cNvPr id="81" name="Google Shape;81;p14"/>
          <p:cNvSpPr/>
          <p:nvPr/>
        </p:nvSpPr>
        <p:spPr>
          <a:xfrm>
            <a:off x="9682163" y="5367576"/>
            <a:ext cx="3968115" cy="919401"/>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500"/>
              <a:buFont typeface="Open Sans"/>
              <a:buNone/>
            </a:pPr>
            <a:r>
              <a:rPr b="0" i="0" lang="en-US" sz="1500" u="none" cap="none" strike="noStrike">
                <a:solidFill>
                  <a:srgbClr val="333F70"/>
                </a:solidFill>
                <a:latin typeface="Open Sans"/>
                <a:ea typeface="Open Sans"/>
                <a:cs typeface="Open Sans"/>
                <a:sym typeface="Open Sans"/>
              </a:rPr>
              <a:t>Post a link to your newly published ADR in the common Slack channel to notify stakeholders of the submission.</a:t>
            </a:r>
            <a:endParaRPr b="0" i="0" sz="1500" u="none" cap="none" strike="noStrike"/>
          </a:p>
        </p:txBody>
      </p:sp>
      <p:sp>
        <p:nvSpPr>
          <p:cNvPr id="82" name="Google Shape;82;p14"/>
          <p:cNvSpPr/>
          <p:nvPr/>
        </p:nvSpPr>
        <p:spPr>
          <a:xfrm>
            <a:off x="788670" y="7000399"/>
            <a:ext cx="13053060" cy="61293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500"/>
              <a:buFont typeface="Open Sans"/>
              <a:buNone/>
            </a:pPr>
            <a:r>
              <a:rPr b="0" i="0" lang="en-US" sz="1500" u="none" cap="none" strike="noStrike">
                <a:solidFill>
                  <a:srgbClr val="333F70"/>
                </a:solidFill>
                <a:latin typeface="Open Sans"/>
                <a:ea typeface="Open Sans"/>
                <a:cs typeface="Open Sans"/>
                <a:sym typeface="Open Sans"/>
              </a:rPr>
              <a:t>We've intentionally chosen not to implement a GitHub Pull Request process for ADRs to minimize administrative overhead and maintain efficient development workflows. This streamlined approach reduces friction while ensuring visibility.</a:t>
            </a:r>
            <a:endParaRPr b="0" i="0" sz="1500" u="none" cap="none" strike="noStrike"/>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5"/>
          <p:cNvSpPr/>
          <p:nvPr/>
        </p:nvSpPr>
        <p:spPr>
          <a:xfrm>
            <a:off x="793790" y="654487"/>
            <a:ext cx="11282839" cy="637937"/>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F70"/>
              </a:buClr>
              <a:buSzPts val="4000"/>
              <a:buFont typeface="Unbounded"/>
              <a:buNone/>
            </a:pPr>
            <a:r>
              <a:rPr b="1" i="0" lang="en-US" sz="4000" u="none" cap="none" strike="noStrike">
                <a:solidFill>
                  <a:srgbClr val="333F70"/>
                </a:solidFill>
                <a:latin typeface="Unbounded"/>
                <a:ea typeface="Unbounded"/>
                <a:cs typeface="Unbounded"/>
                <a:sym typeface="Unbounded"/>
              </a:rPr>
              <a:t>Senior Volunteer Grooming Process</a:t>
            </a:r>
            <a:endParaRPr b="0" i="0" sz="4000" u="none" cap="none" strike="noStrike"/>
          </a:p>
        </p:txBody>
      </p:sp>
      <p:sp>
        <p:nvSpPr>
          <p:cNvPr id="89" name="Google Shape;89;p15"/>
          <p:cNvSpPr/>
          <p:nvPr/>
        </p:nvSpPr>
        <p:spPr>
          <a:xfrm>
            <a:off x="1699617" y="2267188"/>
            <a:ext cx="3255288" cy="318849"/>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333F70"/>
              </a:buClr>
              <a:buSzPts val="2000"/>
              <a:buFont typeface="Unbounded"/>
              <a:buNone/>
            </a:pPr>
            <a:r>
              <a:rPr b="1" i="0" lang="en-US" sz="2000" u="none" cap="none" strike="noStrike">
                <a:solidFill>
                  <a:srgbClr val="333F70"/>
                </a:solidFill>
                <a:latin typeface="Unbounded"/>
                <a:ea typeface="Unbounded"/>
                <a:cs typeface="Unbounded"/>
                <a:sym typeface="Unbounded"/>
              </a:rPr>
              <a:t>Review Submissions</a:t>
            </a:r>
            <a:endParaRPr b="0" i="0" sz="2000" u="none" cap="none" strike="noStrike"/>
          </a:p>
        </p:txBody>
      </p:sp>
      <p:sp>
        <p:nvSpPr>
          <p:cNvPr id="90" name="Google Shape;90;p15"/>
          <p:cNvSpPr/>
          <p:nvPr/>
        </p:nvSpPr>
        <p:spPr>
          <a:xfrm>
            <a:off x="793790" y="2708434"/>
            <a:ext cx="4161115" cy="326708"/>
          </a:xfrm>
          <a:prstGeom prst="rect">
            <a:avLst/>
          </a:prstGeom>
          <a:noFill/>
          <a:ln>
            <a:noFill/>
          </a:ln>
        </p:spPr>
        <p:txBody>
          <a:bodyPr anchorCtr="0" anchor="t" bIns="0" lIns="0" spcFirstLastPara="1" rIns="0" wrap="square" tIns="0">
            <a:noAutofit/>
          </a:bodyPr>
          <a:lstStyle/>
          <a:p>
            <a:pPr indent="0" lvl="0" marL="0" marR="0" rtl="0" algn="r">
              <a:lnSpc>
                <a:spcPct val="159375"/>
              </a:lnSpc>
              <a:spcBef>
                <a:spcPts val="0"/>
              </a:spcBef>
              <a:spcAft>
                <a:spcPts val="0"/>
              </a:spcAft>
              <a:buClr>
                <a:srgbClr val="333F70"/>
              </a:buClr>
              <a:buSzPts val="1600"/>
              <a:buFont typeface="Open Sans"/>
              <a:buNone/>
            </a:pPr>
            <a:r>
              <a:rPr b="0" i="0" lang="en-US" sz="1600" u="none" cap="none" strike="noStrike">
                <a:solidFill>
                  <a:srgbClr val="333F70"/>
                </a:solidFill>
                <a:latin typeface="Open Sans"/>
                <a:ea typeface="Open Sans"/>
                <a:cs typeface="Open Sans"/>
                <a:sym typeface="Open Sans"/>
              </a:rPr>
              <a:t>Senior engineers examine new ADRs</a:t>
            </a:r>
            <a:endParaRPr b="0" i="0" sz="1600" u="none" cap="none" strike="noStrike"/>
          </a:p>
        </p:txBody>
      </p:sp>
      <p:pic>
        <p:nvPicPr>
          <p:cNvPr descr="preencoded.png" id="91" name="Google Shape;91;p15"/>
          <p:cNvPicPr preferRelativeResize="0"/>
          <p:nvPr/>
        </p:nvPicPr>
        <p:blipFill rotWithShape="1">
          <a:blip r:embed="rId3">
            <a:alphaModFix/>
          </a:blip>
          <a:srcRect b="0" l="0" r="0" t="0"/>
          <a:stretch/>
        </p:blipFill>
        <p:spPr>
          <a:xfrm>
            <a:off x="5261015" y="1700689"/>
            <a:ext cx="4108371" cy="4108371"/>
          </a:xfrm>
          <a:prstGeom prst="rect">
            <a:avLst/>
          </a:prstGeom>
          <a:noFill/>
          <a:ln>
            <a:noFill/>
          </a:ln>
        </p:spPr>
      </p:pic>
      <p:sp>
        <p:nvSpPr>
          <p:cNvPr id="92" name="Google Shape;92;p15"/>
          <p:cNvSpPr/>
          <p:nvPr/>
        </p:nvSpPr>
        <p:spPr>
          <a:xfrm>
            <a:off x="6335554" y="2387560"/>
            <a:ext cx="305395" cy="381714"/>
          </a:xfrm>
          <a:prstGeom prst="rect">
            <a:avLst/>
          </a:prstGeom>
          <a:noFill/>
          <a:ln>
            <a:noFill/>
          </a:ln>
        </p:spPr>
        <p:txBody>
          <a:bodyPr anchorCtr="0" anchor="t" bIns="0" lIns="0" spcFirstLastPara="1" rIns="0" wrap="square" tIns="0">
            <a:noAutofit/>
          </a:bodyPr>
          <a:lstStyle/>
          <a:p>
            <a:pPr indent="0" lvl="0" marL="0" marR="0" rtl="0" algn="l">
              <a:lnSpc>
                <a:spcPct val="158333"/>
              </a:lnSpc>
              <a:spcBef>
                <a:spcPts val="0"/>
              </a:spcBef>
              <a:spcAft>
                <a:spcPts val="0"/>
              </a:spcAft>
              <a:buClr>
                <a:srgbClr val="333F70"/>
              </a:buClr>
              <a:buSzPts val="2400"/>
              <a:buFont typeface="Unbounded"/>
              <a:buNone/>
            </a:pPr>
            <a:r>
              <a:rPr b="1" i="0" lang="en-US" sz="2400" u="none" cap="none" strike="noStrike">
                <a:solidFill>
                  <a:srgbClr val="333F70"/>
                </a:solidFill>
                <a:latin typeface="Unbounded"/>
                <a:ea typeface="Unbounded"/>
                <a:cs typeface="Unbounded"/>
                <a:sym typeface="Unbounded"/>
              </a:rPr>
              <a:t>1</a:t>
            </a:r>
            <a:endParaRPr b="0" i="0" sz="2400" u="none" cap="none" strike="noStrike"/>
          </a:p>
        </p:txBody>
      </p:sp>
      <p:sp>
        <p:nvSpPr>
          <p:cNvPr id="93" name="Google Shape;93;p15"/>
          <p:cNvSpPr/>
          <p:nvPr/>
        </p:nvSpPr>
        <p:spPr>
          <a:xfrm>
            <a:off x="9675495" y="2267188"/>
            <a:ext cx="3132892"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F70"/>
              </a:buClr>
              <a:buSzPts val="2000"/>
              <a:buFont typeface="Unbounded"/>
              <a:buNone/>
            </a:pPr>
            <a:r>
              <a:rPr b="1" i="0" lang="en-US" sz="2000" u="none" cap="none" strike="noStrike">
                <a:solidFill>
                  <a:srgbClr val="333F70"/>
                </a:solidFill>
                <a:latin typeface="Unbounded"/>
                <a:ea typeface="Unbounded"/>
                <a:cs typeface="Unbounded"/>
                <a:sym typeface="Unbounded"/>
              </a:rPr>
              <a:t>Classify &amp; Prioritize</a:t>
            </a:r>
            <a:endParaRPr b="0" i="0" sz="2000" u="none" cap="none" strike="noStrike"/>
          </a:p>
        </p:txBody>
      </p:sp>
      <p:sp>
        <p:nvSpPr>
          <p:cNvPr id="94" name="Google Shape;94;p15"/>
          <p:cNvSpPr/>
          <p:nvPr/>
        </p:nvSpPr>
        <p:spPr>
          <a:xfrm>
            <a:off x="9675495" y="2708434"/>
            <a:ext cx="4161115" cy="32670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333F70"/>
              </a:buClr>
              <a:buSzPts val="1600"/>
              <a:buFont typeface="Open Sans"/>
              <a:buNone/>
            </a:pPr>
            <a:r>
              <a:rPr b="0" i="0" lang="en-US" sz="1600" u="none" cap="none" strike="noStrike">
                <a:solidFill>
                  <a:srgbClr val="333F70"/>
                </a:solidFill>
                <a:latin typeface="Open Sans"/>
                <a:ea typeface="Open Sans"/>
                <a:cs typeface="Open Sans"/>
                <a:sym typeface="Open Sans"/>
              </a:rPr>
              <a:t>Assess urgency and impact</a:t>
            </a:r>
            <a:endParaRPr b="0" i="0" sz="1600" u="none" cap="none" strike="noStrike"/>
          </a:p>
        </p:txBody>
      </p:sp>
      <p:pic>
        <p:nvPicPr>
          <p:cNvPr descr="preencoded.png" id="95" name="Google Shape;95;p15"/>
          <p:cNvPicPr preferRelativeResize="0"/>
          <p:nvPr/>
        </p:nvPicPr>
        <p:blipFill rotWithShape="1">
          <a:blip r:embed="rId4">
            <a:alphaModFix/>
          </a:blip>
          <a:srcRect b="0" l="0" r="0" t="0"/>
          <a:stretch/>
        </p:blipFill>
        <p:spPr>
          <a:xfrm>
            <a:off x="5261015" y="1700689"/>
            <a:ext cx="4108371" cy="4108371"/>
          </a:xfrm>
          <a:prstGeom prst="rect">
            <a:avLst/>
          </a:prstGeom>
          <a:noFill/>
          <a:ln>
            <a:noFill/>
          </a:ln>
        </p:spPr>
      </p:pic>
      <p:sp>
        <p:nvSpPr>
          <p:cNvPr id="96" name="Google Shape;96;p15"/>
          <p:cNvSpPr/>
          <p:nvPr/>
        </p:nvSpPr>
        <p:spPr>
          <a:xfrm>
            <a:off x="8338780" y="2737128"/>
            <a:ext cx="305395" cy="381714"/>
          </a:xfrm>
          <a:prstGeom prst="rect">
            <a:avLst/>
          </a:prstGeom>
          <a:noFill/>
          <a:ln>
            <a:noFill/>
          </a:ln>
        </p:spPr>
        <p:txBody>
          <a:bodyPr anchorCtr="0" anchor="t" bIns="0" lIns="0" spcFirstLastPara="1" rIns="0" wrap="square" tIns="0">
            <a:noAutofit/>
          </a:bodyPr>
          <a:lstStyle/>
          <a:p>
            <a:pPr indent="0" lvl="0" marL="0" marR="0" rtl="0" algn="l">
              <a:lnSpc>
                <a:spcPct val="158333"/>
              </a:lnSpc>
              <a:spcBef>
                <a:spcPts val="0"/>
              </a:spcBef>
              <a:spcAft>
                <a:spcPts val="0"/>
              </a:spcAft>
              <a:buClr>
                <a:srgbClr val="333F70"/>
              </a:buClr>
              <a:buSzPts val="2400"/>
              <a:buFont typeface="Unbounded"/>
              <a:buNone/>
            </a:pPr>
            <a:r>
              <a:rPr b="1" i="0" lang="en-US" sz="2400" u="none" cap="none" strike="noStrike">
                <a:solidFill>
                  <a:srgbClr val="333F70"/>
                </a:solidFill>
                <a:latin typeface="Unbounded"/>
                <a:ea typeface="Unbounded"/>
                <a:cs typeface="Unbounded"/>
                <a:sym typeface="Unbounded"/>
              </a:rPr>
              <a:t>2</a:t>
            </a:r>
            <a:endParaRPr b="0" i="0" sz="2400" u="none" cap="none" strike="noStrike"/>
          </a:p>
        </p:txBody>
      </p:sp>
      <p:sp>
        <p:nvSpPr>
          <p:cNvPr id="97" name="Google Shape;97;p15"/>
          <p:cNvSpPr/>
          <p:nvPr/>
        </p:nvSpPr>
        <p:spPr>
          <a:xfrm>
            <a:off x="9675495" y="4474488"/>
            <a:ext cx="3466981" cy="318849"/>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F70"/>
              </a:buClr>
              <a:buSzPts val="2000"/>
              <a:buFont typeface="Unbounded"/>
              <a:buNone/>
            </a:pPr>
            <a:r>
              <a:rPr b="1" i="0" lang="en-US" sz="2000" u="none" cap="none" strike="noStrike">
                <a:solidFill>
                  <a:srgbClr val="333F70"/>
                </a:solidFill>
                <a:latin typeface="Unbounded"/>
                <a:ea typeface="Unbounded"/>
                <a:cs typeface="Unbounded"/>
                <a:sym typeface="Unbounded"/>
              </a:rPr>
              <a:t>Resolve Simple Cases</a:t>
            </a:r>
            <a:endParaRPr b="0" i="0" sz="2000" u="none" cap="none" strike="noStrike"/>
          </a:p>
        </p:txBody>
      </p:sp>
      <p:sp>
        <p:nvSpPr>
          <p:cNvPr id="98" name="Google Shape;98;p15"/>
          <p:cNvSpPr/>
          <p:nvPr/>
        </p:nvSpPr>
        <p:spPr>
          <a:xfrm>
            <a:off x="9675495" y="4915733"/>
            <a:ext cx="4161115" cy="326708"/>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333F70"/>
              </a:buClr>
              <a:buSzPts val="1600"/>
              <a:buFont typeface="Open Sans"/>
              <a:buNone/>
            </a:pPr>
            <a:r>
              <a:rPr b="0" i="0" lang="en-US" sz="1600" u="none" cap="none" strike="noStrike">
                <a:solidFill>
                  <a:srgbClr val="333F70"/>
                </a:solidFill>
                <a:latin typeface="Open Sans"/>
                <a:ea typeface="Open Sans"/>
                <a:cs typeface="Open Sans"/>
                <a:sym typeface="Open Sans"/>
              </a:rPr>
              <a:t>Address straightforward decisions</a:t>
            </a:r>
            <a:endParaRPr b="0" i="0" sz="1600" u="none" cap="none" strike="noStrike"/>
          </a:p>
        </p:txBody>
      </p:sp>
      <p:pic>
        <p:nvPicPr>
          <p:cNvPr descr="preencoded.png" id="99" name="Google Shape;99;p15"/>
          <p:cNvPicPr preferRelativeResize="0"/>
          <p:nvPr/>
        </p:nvPicPr>
        <p:blipFill rotWithShape="1">
          <a:blip r:embed="rId5">
            <a:alphaModFix/>
          </a:blip>
          <a:srcRect b="0" l="0" r="0" t="0"/>
          <a:stretch/>
        </p:blipFill>
        <p:spPr>
          <a:xfrm>
            <a:off x="5261015" y="1700689"/>
            <a:ext cx="4108371" cy="4108371"/>
          </a:xfrm>
          <a:prstGeom prst="rect">
            <a:avLst/>
          </a:prstGeom>
          <a:noFill/>
          <a:ln>
            <a:noFill/>
          </a:ln>
        </p:spPr>
      </p:pic>
      <p:sp>
        <p:nvSpPr>
          <p:cNvPr id="100" name="Google Shape;100;p15"/>
          <p:cNvSpPr/>
          <p:nvPr/>
        </p:nvSpPr>
        <p:spPr>
          <a:xfrm>
            <a:off x="7989213" y="4740354"/>
            <a:ext cx="305395" cy="381714"/>
          </a:xfrm>
          <a:prstGeom prst="rect">
            <a:avLst/>
          </a:prstGeom>
          <a:noFill/>
          <a:ln>
            <a:noFill/>
          </a:ln>
        </p:spPr>
        <p:txBody>
          <a:bodyPr anchorCtr="0" anchor="t" bIns="0" lIns="0" spcFirstLastPara="1" rIns="0" wrap="square" tIns="0">
            <a:noAutofit/>
          </a:bodyPr>
          <a:lstStyle/>
          <a:p>
            <a:pPr indent="0" lvl="0" marL="0" marR="0" rtl="0" algn="l">
              <a:lnSpc>
                <a:spcPct val="158333"/>
              </a:lnSpc>
              <a:spcBef>
                <a:spcPts val="0"/>
              </a:spcBef>
              <a:spcAft>
                <a:spcPts val="0"/>
              </a:spcAft>
              <a:buClr>
                <a:srgbClr val="333F70"/>
              </a:buClr>
              <a:buSzPts val="2400"/>
              <a:buFont typeface="Unbounded"/>
              <a:buNone/>
            </a:pPr>
            <a:r>
              <a:rPr b="1" i="0" lang="en-US" sz="2400" u="none" cap="none" strike="noStrike">
                <a:solidFill>
                  <a:srgbClr val="333F70"/>
                </a:solidFill>
                <a:latin typeface="Unbounded"/>
                <a:ea typeface="Unbounded"/>
                <a:cs typeface="Unbounded"/>
                <a:sym typeface="Unbounded"/>
              </a:rPr>
              <a:t>3</a:t>
            </a:r>
            <a:endParaRPr b="0" i="0" sz="2400" u="none" cap="none" strike="noStrike"/>
          </a:p>
        </p:txBody>
      </p:sp>
      <p:sp>
        <p:nvSpPr>
          <p:cNvPr id="101" name="Google Shape;101;p15"/>
          <p:cNvSpPr/>
          <p:nvPr/>
        </p:nvSpPr>
        <p:spPr>
          <a:xfrm>
            <a:off x="1403033" y="4474488"/>
            <a:ext cx="3551873" cy="318849"/>
          </a:xfrm>
          <a:prstGeom prst="rect">
            <a:avLst/>
          </a:prstGeom>
          <a:noFill/>
          <a:ln>
            <a:noFill/>
          </a:ln>
        </p:spPr>
        <p:txBody>
          <a:bodyPr anchorCtr="0" anchor="t" bIns="0" lIns="0" spcFirstLastPara="1" rIns="0" wrap="square" tIns="0">
            <a:noAutofit/>
          </a:bodyPr>
          <a:lstStyle/>
          <a:p>
            <a:pPr indent="0" lvl="0" marL="0" marR="0" rtl="0" algn="r">
              <a:lnSpc>
                <a:spcPct val="125000"/>
              </a:lnSpc>
              <a:spcBef>
                <a:spcPts val="0"/>
              </a:spcBef>
              <a:spcAft>
                <a:spcPts val="0"/>
              </a:spcAft>
              <a:buClr>
                <a:srgbClr val="333F70"/>
              </a:buClr>
              <a:buSzPts val="2000"/>
              <a:buFont typeface="Unbounded"/>
              <a:buNone/>
            </a:pPr>
            <a:r>
              <a:rPr b="1" i="0" lang="en-US" sz="2000" u="none" cap="none" strike="noStrike">
                <a:solidFill>
                  <a:srgbClr val="333F70"/>
                </a:solidFill>
                <a:latin typeface="Unbounded"/>
                <a:ea typeface="Unbounded"/>
                <a:cs typeface="Unbounded"/>
                <a:sym typeface="Unbounded"/>
              </a:rPr>
              <a:t>Queue Complex Cases</a:t>
            </a:r>
            <a:endParaRPr b="0" i="0" sz="2000" u="none" cap="none" strike="noStrike"/>
          </a:p>
        </p:txBody>
      </p:sp>
      <p:sp>
        <p:nvSpPr>
          <p:cNvPr id="102" name="Google Shape;102;p15"/>
          <p:cNvSpPr/>
          <p:nvPr/>
        </p:nvSpPr>
        <p:spPr>
          <a:xfrm>
            <a:off x="793790" y="4915733"/>
            <a:ext cx="4161115" cy="326708"/>
          </a:xfrm>
          <a:prstGeom prst="rect">
            <a:avLst/>
          </a:prstGeom>
          <a:noFill/>
          <a:ln>
            <a:noFill/>
          </a:ln>
        </p:spPr>
        <p:txBody>
          <a:bodyPr anchorCtr="0" anchor="t" bIns="0" lIns="0" spcFirstLastPara="1" rIns="0" wrap="square" tIns="0">
            <a:noAutofit/>
          </a:bodyPr>
          <a:lstStyle/>
          <a:p>
            <a:pPr indent="0" lvl="0" marL="0" marR="0" rtl="0" algn="r">
              <a:lnSpc>
                <a:spcPct val="159375"/>
              </a:lnSpc>
              <a:spcBef>
                <a:spcPts val="0"/>
              </a:spcBef>
              <a:spcAft>
                <a:spcPts val="0"/>
              </a:spcAft>
              <a:buClr>
                <a:srgbClr val="333F70"/>
              </a:buClr>
              <a:buSzPts val="1600"/>
              <a:buFont typeface="Open Sans"/>
              <a:buNone/>
            </a:pPr>
            <a:r>
              <a:rPr b="0" i="0" lang="en-US" sz="1600" u="none" cap="none" strike="noStrike">
                <a:solidFill>
                  <a:srgbClr val="333F70"/>
                </a:solidFill>
                <a:latin typeface="Open Sans"/>
                <a:ea typeface="Open Sans"/>
                <a:cs typeface="Open Sans"/>
                <a:sym typeface="Open Sans"/>
              </a:rPr>
              <a:t>Prepare for DRB review</a:t>
            </a:r>
            <a:endParaRPr b="0" i="0" sz="1600" u="none" cap="none" strike="noStrike"/>
          </a:p>
        </p:txBody>
      </p:sp>
      <p:pic>
        <p:nvPicPr>
          <p:cNvPr descr="preencoded.png" id="103" name="Google Shape;103;p15"/>
          <p:cNvPicPr preferRelativeResize="0"/>
          <p:nvPr/>
        </p:nvPicPr>
        <p:blipFill rotWithShape="1">
          <a:blip r:embed="rId6">
            <a:alphaModFix/>
          </a:blip>
          <a:srcRect b="0" l="0" r="0" t="0"/>
          <a:stretch/>
        </p:blipFill>
        <p:spPr>
          <a:xfrm>
            <a:off x="5261015" y="1700689"/>
            <a:ext cx="4108371" cy="4108371"/>
          </a:xfrm>
          <a:prstGeom prst="rect">
            <a:avLst/>
          </a:prstGeom>
          <a:noFill/>
          <a:ln>
            <a:noFill/>
          </a:ln>
        </p:spPr>
      </p:pic>
      <p:sp>
        <p:nvSpPr>
          <p:cNvPr id="104" name="Google Shape;104;p15"/>
          <p:cNvSpPr/>
          <p:nvPr/>
        </p:nvSpPr>
        <p:spPr>
          <a:xfrm>
            <a:off x="5985986" y="4390787"/>
            <a:ext cx="305395" cy="381714"/>
          </a:xfrm>
          <a:prstGeom prst="rect">
            <a:avLst/>
          </a:prstGeom>
          <a:noFill/>
          <a:ln>
            <a:noFill/>
          </a:ln>
        </p:spPr>
        <p:txBody>
          <a:bodyPr anchorCtr="0" anchor="t" bIns="0" lIns="0" spcFirstLastPara="1" rIns="0" wrap="square" tIns="0">
            <a:noAutofit/>
          </a:bodyPr>
          <a:lstStyle/>
          <a:p>
            <a:pPr indent="0" lvl="0" marL="0" marR="0" rtl="0" algn="l">
              <a:lnSpc>
                <a:spcPct val="158333"/>
              </a:lnSpc>
              <a:spcBef>
                <a:spcPts val="0"/>
              </a:spcBef>
              <a:spcAft>
                <a:spcPts val="0"/>
              </a:spcAft>
              <a:buClr>
                <a:srgbClr val="333F70"/>
              </a:buClr>
              <a:buSzPts val="2400"/>
              <a:buFont typeface="Unbounded"/>
              <a:buNone/>
            </a:pPr>
            <a:r>
              <a:rPr b="1" i="0" lang="en-US" sz="2400" u="none" cap="none" strike="noStrike">
                <a:solidFill>
                  <a:srgbClr val="333F70"/>
                </a:solidFill>
                <a:latin typeface="Unbounded"/>
                <a:ea typeface="Unbounded"/>
                <a:cs typeface="Unbounded"/>
                <a:sym typeface="Unbounded"/>
              </a:rPr>
              <a:t>4</a:t>
            </a:r>
            <a:endParaRPr b="0" i="0" sz="2400" u="none" cap="none" strike="noStrike"/>
          </a:p>
        </p:txBody>
      </p:sp>
      <p:sp>
        <p:nvSpPr>
          <p:cNvPr id="105" name="Google Shape;105;p15"/>
          <p:cNvSpPr/>
          <p:nvPr/>
        </p:nvSpPr>
        <p:spPr>
          <a:xfrm>
            <a:off x="793790" y="6038612"/>
            <a:ext cx="13042821" cy="653415"/>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333F70"/>
              </a:buClr>
              <a:buSzPts val="1600"/>
              <a:buFont typeface="Open Sans"/>
              <a:buNone/>
            </a:pPr>
            <a:r>
              <a:rPr b="0" i="0" lang="en-US" sz="1600" u="none" cap="none" strike="noStrike">
                <a:solidFill>
                  <a:srgbClr val="333F70"/>
                </a:solidFill>
                <a:latin typeface="Open Sans"/>
                <a:ea typeface="Open Sans"/>
                <a:cs typeface="Open Sans"/>
                <a:sym typeface="Open Sans"/>
              </a:rPr>
              <a:t>A volunteer panel of senior/lead engineers and product owners regularly reviews new ADR submissions to ensure proper handling. This group evaluates each submission based on urgency, complexity, and organizational impact to determine the appropriate review path.</a:t>
            </a:r>
            <a:endParaRPr b="0" i="0" sz="1600" u="none" cap="none" strike="noStrike"/>
          </a:p>
        </p:txBody>
      </p:sp>
      <p:sp>
        <p:nvSpPr>
          <p:cNvPr id="106" name="Google Shape;106;p15"/>
          <p:cNvSpPr/>
          <p:nvPr/>
        </p:nvSpPr>
        <p:spPr>
          <a:xfrm>
            <a:off x="793790" y="6921579"/>
            <a:ext cx="13042821" cy="653415"/>
          </a:xfrm>
          <a:prstGeom prst="rect">
            <a:avLst/>
          </a:prstGeom>
          <a:noFill/>
          <a:ln>
            <a:noFill/>
          </a:ln>
        </p:spPr>
        <p:txBody>
          <a:bodyPr anchorCtr="0" anchor="t" bIns="0" lIns="0" spcFirstLastPara="1" rIns="0" wrap="square" tIns="0">
            <a:noAutofit/>
          </a:bodyPr>
          <a:lstStyle/>
          <a:p>
            <a:pPr indent="0" lvl="0" marL="0" marR="0" rtl="0" algn="l">
              <a:lnSpc>
                <a:spcPct val="159375"/>
              </a:lnSpc>
              <a:spcBef>
                <a:spcPts val="0"/>
              </a:spcBef>
              <a:spcAft>
                <a:spcPts val="0"/>
              </a:spcAft>
              <a:buClr>
                <a:srgbClr val="333F70"/>
              </a:buClr>
              <a:buSzPts val="1600"/>
              <a:buFont typeface="Open Sans"/>
              <a:buNone/>
            </a:pPr>
            <a:r>
              <a:rPr b="0" i="0" lang="en-US" sz="1600" u="none" cap="none" strike="noStrike">
                <a:solidFill>
                  <a:srgbClr val="333F70"/>
                </a:solidFill>
                <a:latin typeface="Open Sans"/>
                <a:ea typeface="Open Sans"/>
                <a:cs typeface="Open Sans"/>
                <a:sym typeface="Open Sans"/>
              </a:rPr>
              <a:t>For straightforward decisions where sufficient expertise exists within the volunteer group, the ADR may be resolved without requiring a full Design Review Board session, accelerating the decision process and notifying requestors promptly.</a:t>
            </a:r>
            <a:endParaRPr b="0" i="0" sz="1600" u="none" cap="none" strike="noStrike"/>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pic>
        <p:nvPicPr>
          <p:cNvPr descr="preencoded.png" id="112" name="Google Shape;112;p16"/>
          <p:cNvPicPr preferRelativeResize="0"/>
          <p:nvPr/>
        </p:nvPicPr>
        <p:blipFill rotWithShape="1">
          <a:blip r:embed="rId3">
            <a:alphaModFix/>
          </a:blip>
          <a:srcRect b="0" l="0" r="0" t="0"/>
          <a:stretch/>
        </p:blipFill>
        <p:spPr>
          <a:xfrm>
            <a:off x="9144000" y="0"/>
            <a:ext cx="5486400" cy="8229600"/>
          </a:xfrm>
          <a:prstGeom prst="rect">
            <a:avLst/>
          </a:prstGeom>
          <a:noFill/>
          <a:ln>
            <a:noFill/>
          </a:ln>
        </p:spPr>
      </p:pic>
      <p:sp>
        <p:nvSpPr>
          <p:cNvPr id="113" name="Google Shape;113;p16"/>
          <p:cNvSpPr/>
          <p:nvPr/>
        </p:nvSpPr>
        <p:spPr>
          <a:xfrm>
            <a:off x="793790" y="652820"/>
            <a:ext cx="7556421" cy="1204913"/>
          </a:xfrm>
          <a:prstGeom prst="rect">
            <a:avLst/>
          </a:prstGeom>
          <a:noFill/>
          <a:ln>
            <a:noFill/>
          </a:ln>
        </p:spPr>
        <p:txBody>
          <a:bodyPr anchorCtr="0" anchor="t" bIns="0" lIns="0" spcFirstLastPara="1" rIns="0" wrap="square" tIns="0">
            <a:noAutofit/>
          </a:bodyPr>
          <a:lstStyle/>
          <a:p>
            <a:pPr indent="0" lvl="0" marL="0" marR="0" rtl="0" algn="l">
              <a:lnSpc>
                <a:spcPct val="125333"/>
              </a:lnSpc>
              <a:spcBef>
                <a:spcPts val="0"/>
              </a:spcBef>
              <a:spcAft>
                <a:spcPts val="0"/>
              </a:spcAft>
              <a:buClr>
                <a:srgbClr val="333F70"/>
              </a:buClr>
              <a:buSzPts val="3750"/>
              <a:buFont typeface="Unbounded"/>
              <a:buNone/>
            </a:pPr>
            <a:r>
              <a:rPr b="1" i="0" lang="en-US" sz="3750" u="none" cap="none" strike="noStrike">
                <a:solidFill>
                  <a:srgbClr val="333F70"/>
                </a:solidFill>
                <a:latin typeface="Unbounded"/>
                <a:ea typeface="Unbounded"/>
                <a:cs typeface="Unbounded"/>
                <a:sym typeface="Unbounded"/>
              </a:rPr>
              <a:t>Design Review Board Meetings</a:t>
            </a:r>
            <a:endParaRPr b="0" i="0" sz="3750" u="none" cap="none" strike="noStrike"/>
          </a:p>
        </p:txBody>
      </p:sp>
      <p:sp>
        <p:nvSpPr>
          <p:cNvPr id="114" name="Google Shape;114;p16"/>
          <p:cNvSpPr/>
          <p:nvPr/>
        </p:nvSpPr>
        <p:spPr>
          <a:xfrm>
            <a:off x="793790" y="2146935"/>
            <a:ext cx="3681889" cy="2660690"/>
          </a:xfrm>
          <a:prstGeom prst="roundRect">
            <a:avLst>
              <a:gd fmla="val 3043"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p:nvPr/>
        </p:nvSpPr>
        <p:spPr>
          <a:xfrm>
            <a:off x="994172" y="2347317"/>
            <a:ext cx="2919293" cy="301228"/>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333F70"/>
              </a:buClr>
              <a:buSzPts val="1850"/>
              <a:buFont typeface="Unbounded"/>
              <a:buNone/>
            </a:pPr>
            <a:r>
              <a:rPr b="1" i="0" lang="en-US" sz="1850" u="none" cap="none" strike="noStrike">
                <a:solidFill>
                  <a:srgbClr val="333F70"/>
                </a:solidFill>
                <a:latin typeface="Unbounded"/>
                <a:ea typeface="Unbounded"/>
                <a:cs typeface="Unbounded"/>
                <a:sym typeface="Unbounded"/>
              </a:rPr>
              <a:t>Bi-Weekly Schedule</a:t>
            </a:r>
            <a:endParaRPr b="0" i="0" sz="1850" u="none" cap="none" strike="noStrike"/>
          </a:p>
        </p:txBody>
      </p:sp>
      <p:sp>
        <p:nvSpPr>
          <p:cNvPr id="116" name="Google Shape;116;p16"/>
          <p:cNvSpPr/>
          <p:nvPr/>
        </p:nvSpPr>
        <p:spPr>
          <a:xfrm>
            <a:off x="994172" y="2764155"/>
            <a:ext cx="3281124" cy="154185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500"/>
              <a:buFont typeface="Open Sans"/>
              <a:buNone/>
            </a:pPr>
            <a:r>
              <a:rPr b="0" i="0" lang="en-US" sz="1500" u="none" cap="none" strike="noStrike">
                <a:solidFill>
                  <a:srgbClr val="333F70"/>
                </a:solidFill>
                <a:latin typeface="Open Sans"/>
                <a:ea typeface="Open Sans"/>
                <a:cs typeface="Open Sans"/>
                <a:sym typeface="Open Sans"/>
              </a:rPr>
              <a:t>The Design Review Board (DRB) convenes every two weeks to discuss the highest-priority ADRs that require broader input and expert guidance.</a:t>
            </a:r>
            <a:endParaRPr b="0" i="0" sz="1500" u="none" cap="none" strike="noStrike"/>
          </a:p>
        </p:txBody>
      </p:sp>
      <p:sp>
        <p:nvSpPr>
          <p:cNvPr id="117" name="Google Shape;117;p16"/>
          <p:cNvSpPr/>
          <p:nvPr/>
        </p:nvSpPr>
        <p:spPr>
          <a:xfrm>
            <a:off x="4668441" y="2146935"/>
            <a:ext cx="3681889" cy="2660690"/>
          </a:xfrm>
          <a:prstGeom prst="roundRect">
            <a:avLst>
              <a:gd fmla="val 3043"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6"/>
          <p:cNvSpPr/>
          <p:nvPr/>
        </p:nvSpPr>
        <p:spPr>
          <a:xfrm>
            <a:off x="4868823" y="2347317"/>
            <a:ext cx="3281124" cy="602456"/>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333F70"/>
              </a:buClr>
              <a:buSzPts val="1850"/>
              <a:buFont typeface="Unbounded"/>
              <a:buNone/>
            </a:pPr>
            <a:r>
              <a:rPr b="1" i="0" lang="en-US" sz="1850" u="none" cap="none" strike="noStrike">
                <a:solidFill>
                  <a:srgbClr val="333F70"/>
                </a:solidFill>
                <a:latin typeface="Unbounded"/>
                <a:ea typeface="Unbounded"/>
                <a:cs typeface="Unbounded"/>
                <a:sym typeface="Unbounded"/>
              </a:rPr>
              <a:t>Distinguished Engineer Input</a:t>
            </a:r>
            <a:endParaRPr b="0" i="0" sz="1850" u="none" cap="none" strike="noStrike"/>
          </a:p>
        </p:txBody>
      </p:sp>
      <p:sp>
        <p:nvSpPr>
          <p:cNvPr id="119" name="Google Shape;119;p16"/>
          <p:cNvSpPr/>
          <p:nvPr/>
        </p:nvSpPr>
        <p:spPr>
          <a:xfrm>
            <a:off x="4868823" y="3065383"/>
            <a:ext cx="3281124" cy="154185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500"/>
              <a:buFont typeface="Open Sans"/>
              <a:buNone/>
            </a:pPr>
            <a:r>
              <a:rPr b="0" i="0" lang="en-US" sz="1500" u="none" cap="none" strike="noStrike">
                <a:solidFill>
                  <a:srgbClr val="333F70"/>
                </a:solidFill>
                <a:latin typeface="Open Sans"/>
                <a:ea typeface="Open Sans"/>
                <a:cs typeface="Open Sans"/>
                <a:sym typeface="Open Sans"/>
              </a:rPr>
              <a:t>This forum provides a valuable opportunity for the tower's Distinguished Engineer to offer detailed guidance on complex architectural decisions.</a:t>
            </a:r>
            <a:endParaRPr b="0" i="0" sz="1500" u="none" cap="none" strike="noStrike"/>
          </a:p>
        </p:txBody>
      </p:sp>
      <p:sp>
        <p:nvSpPr>
          <p:cNvPr id="120" name="Google Shape;120;p16"/>
          <p:cNvSpPr/>
          <p:nvPr/>
        </p:nvSpPr>
        <p:spPr>
          <a:xfrm>
            <a:off x="793790" y="5000387"/>
            <a:ext cx="7556421" cy="1434346"/>
          </a:xfrm>
          <a:prstGeom prst="roundRect">
            <a:avLst>
              <a:gd fmla="val 5646"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6"/>
          <p:cNvSpPr/>
          <p:nvPr/>
        </p:nvSpPr>
        <p:spPr>
          <a:xfrm>
            <a:off x="994172" y="5200769"/>
            <a:ext cx="3909774" cy="301228"/>
          </a:xfrm>
          <a:prstGeom prst="rect">
            <a:avLst/>
          </a:prstGeom>
          <a:noFill/>
          <a:ln>
            <a:noFill/>
          </a:ln>
        </p:spPr>
        <p:txBody>
          <a:bodyPr anchorCtr="0" anchor="t" bIns="0" lIns="0" spcFirstLastPara="1" rIns="0" wrap="square" tIns="0">
            <a:noAutofit/>
          </a:bodyPr>
          <a:lstStyle/>
          <a:p>
            <a:pPr indent="0" lvl="0" marL="0" marR="0" rtl="0" algn="l">
              <a:lnSpc>
                <a:spcPct val="127027"/>
              </a:lnSpc>
              <a:spcBef>
                <a:spcPts val="0"/>
              </a:spcBef>
              <a:spcAft>
                <a:spcPts val="0"/>
              </a:spcAft>
              <a:buClr>
                <a:srgbClr val="333F70"/>
              </a:buClr>
              <a:buSzPts val="1850"/>
              <a:buFont typeface="Unbounded"/>
              <a:buNone/>
            </a:pPr>
            <a:r>
              <a:rPr b="1" i="0" lang="en-US" sz="1850" u="none" cap="none" strike="noStrike">
                <a:solidFill>
                  <a:srgbClr val="333F70"/>
                </a:solidFill>
                <a:latin typeface="Unbounded"/>
                <a:ea typeface="Unbounded"/>
                <a:cs typeface="Unbounded"/>
                <a:sym typeface="Unbounded"/>
              </a:rPr>
              <a:t>Stakeholder Participation</a:t>
            </a:r>
            <a:endParaRPr b="0" i="0" sz="1850" u="none" cap="none" strike="noStrike"/>
          </a:p>
        </p:txBody>
      </p:sp>
      <p:sp>
        <p:nvSpPr>
          <p:cNvPr id="122" name="Google Shape;122;p16"/>
          <p:cNvSpPr/>
          <p:nvPr/>
        </p:nvSpPr>
        <p:spPr>
          <a:xfrm>
            <a:off x="994172" y="5617607"/>
            <a:ext cx="7155656" cy="616744"/>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500"/>
              <a:buFont typeface="Open Sans"/>
              <a:buNone/>
            </a:pPr>
            <a:r>
              <a:rPr b="0" i="0" lang="en-US" sz="1500" u="none" cap="none" strike="noStrike">
                <a:solidFill>
                  <a:srgbClr val="333F70"/>
                </a:solidFill>
                <a:latin typeface="Open Sans"/>
                <a:ea typeface="Open Sans"/>
                <a:cs typeface="Open Sans"/>
                <a:sym typeface="Open Sans"/>
              </a:rPr>
              <a:t>Relevant stakeholders, including external teams and architectural experts, are invited to participate as needed based on the specific ADRs under review.</a:t>
            </a:r>
            <a:endParaRPr b="0" i="0" sz="1500" u="none" cap="none" strike="noStrike"/>
          </a:p>
        </p:txBody>
      </p:sp>
      <p:sp>
        <p:nvSpPr>
          <p:cNvPr id="123" name="Google Shape;123;p16"/>
          <p:cNvSpPr/>
          <p:nvPr/>
        </p:nvSpPr>
        <p:spPr>
          <a:xfrm>
            <a:off x="793790" y="6651546"/>
            <a:ext cx="7556421" cy="925116"/>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500"/>
              <a:buFont typeface="Open Sans"/>
              <a:buNone/>
            </a:pPr>
            <a:r>
              <a:rPr b="0" i="0" lang="en-US" sz="1500" u="none" cap="none" strike="noStrike">
                <a:solidFill>
                  <a:srgbClr val="333F70"/>
                </a:solidFill>
                <a:latin typeface="Open Sans"/>
                <a:ea typeface="Open Sans"/>
                <a:cs typeface="Open Sans"/>
                <a:sym typeface="Open Sans"/>
              </a:rPr>
              <a:t>The structured DRB meetings ensure that complex architectural decisions receive appropriate attention from senior technical leadership while maintaining a predictable cadence for decision-making.</a:t>
            </a:r>
            <a:endParaRPr b="0" i="0" sz="1500" u="none" cap="none" strike="noStrike"/>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7"/>
          <p:cNvSpPr/>
          <p:nvPr/>
        </p:nvSpPr>
        <p:spPr>
          <a:xfrm>
            <a:off x="793790" y="973574"/>
            <a:ext cx="13042821" cy="1417558"/>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33F70"/>
              </a:buClr>
              <a:buSzPts val="4450"/>
              <a:buFont typeface="Unbounded"/>
              <a:buNone/>
            </a:pPr>
            <a:r>
              <a:rPr b="1" i="0" lang="en-US" sz="4450" u="none" cap="none" strike="noStrike">
                <a:solidFill>
                  <a:srgbClr val="333F70"/>
                </a:solidFill>
                <a:latin typeface="Unbounded"/>
                <a:ea typeface="Unbounded"/>
                <a:cs typeface="Unbounded"/>
                <a:sym typeface="Unbounded"/>
              </a:rPr>
              <a:t>Decision Outcomes and Documentation</a:t>
            </a:r>
            <a:endParaRPr b="0" i="0" sz="4450" u="none" cap="none" strike="noStrike"/>
          </a:p>
        </p:txBody>
      </p:sp>
      <p:sp>
        <p:nvSpPr>
          <p:cNvPr id="130" name="Google Shape;130;p17"/>
          <p:cNvSpPr/>
          <p:nvPr/>
        </p:nvSpPr>
        <p:spPr>
          <a:xfrm>
            <a:off x="793790" y="2958108"/>
            <a:ext cx="3395901"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F70"/>
              </a:buClr>
              <a:buSzPts val="2200"/>
              <a:buFont typeface="Unbounded"/>
              <a:buNone/>
            </a:pPr>
            <a:r>
              <a:rPr b="1" i="0" lang="en-US" sz="2200" u="none" cap="none" strike="noStrike">
                <a:solidFill>
                  <a:srgbClr val="333F70"/>
                </a:solidFill>
                <a:latin typeface="Unbounded"/>
                <a:ea typeface="Unbounded"/>
                <a:cs typeface="Unbounded"/>
                <a:sym typeface="Unbounded"/>
              </a:rPr>
              <a:t>Proposal Accepted</a:t>
            </a:r>
            <a:endParaRPr b="0" i="0" sz="2200" u="none" cap="none" strike="noStrike"/>
          </a:p>
        </p:txBody>
      </p:sp>
      <p:sp>
        <p:nvSpPr>
          <p:cNvPr id="131" name="Google Shape;131;p17"/>
          <p:cNvSpPr/>
          <p:nvPr/>
        </p:nvSpPr>
        <p:spPr>
          <a:xfrm>
            <a:off x="793790" y="3539252"/>
            <a:ext cx="3978116"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333F70"/>
              </a:buClr>
              <a:buSzPts val="1750"/>
              <a:buFont typeface="Open Sans"/>
              <a:buNone/>
            </a:pPr>
            <a:r>
              <a:rPr b="0" i="0" lang="en-US" sz="1750" u="none" cap="none" strike="noStrike">
                <a:solidFill>
                  <a:srgbClr val="333F70"/>
                </a:solidFill>
                <a:latin typeface="Open Sans"/>
                <a:ea typeface="Open Sans"/>
                <a:cs typeface="Open Sans"/>
                <a:sym typeface="Open Sans"/>
              </a:rPr>
              <a:t>The ADR is approved as presented, allowing implementation to proceed according to the documented approach. This outcome provides clear direction and confirms organizational support.</a:t>
            </a:r>
            <a:endParaRPr b="0" i="0" sz="1750" u="none" cap="none" strike="noStrike"/>
          </a:p>
        </p:txBody>
      </p:sp>
      <p:sp>
        <p:nvSpPr>
          <p:cNvPr id="132" name="Google Shape;132;p17"/>
          <p:cNvSpPr/>
          <p:nvPr/>
        </p:nvSpPr>
        <p:spPr>
          <a:xfrm>
            <a:off x="5332928" y="2958108"/>
            <a:ext cx="3978116"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F70"/>
              </a:buClr>
              <a:buSzPts val="2200"/>
              <a:buFont typeface="Unbounded"/>
              <a:buNone/>
            </a:pPr>
            <a:r>
              <a:rPr b="1" i="0" lang="en-US" sz="2200" u="none" cap="none" strike="noStrike">
                <a:solidFill>
                  <a:srgbClr val="333F70"/>
                </a:solidFill>
                <a:latin typeface="Unbounded"/>
                <a:ea typeface="Unbounded"/>
                <a:cs typeface="Unbounded"/>
                <a:sym typeface="Unbounded"/>
              </a:rPr>
              <a:t>Recommendation Provided</a:t>
            </a:r>
            <a:endParaRPr b="0" i="0" sz="2200" u="none" cap="none" strike="noStrike"/>
          </a:p>
        </p:txBody>
      </p:sp>
      <p:sp>
        <p:nvSpPr>
          <p:cNvPr id="133" name="Google Shape;133;p17"/>
          <p:cNvSpPr/>
          <p:nvPr/>
        </p:nvSpPr>
        <p:spPr>
          <a:xfrm>
            <a:off x="5332928" y="3893582"/>
            <a:ext cx="3978116"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333F70"/>
              </a:buClr>
              <a:buSzPts val="1750"/>
              <a:buFont typeface="Open Sans"/>
              <a:buNone/>
            </a:pPr>
            <a:r>
              <a:rPr b="0" i="0" lang="en-US" sz="1750" u="none" cap="none" strike="noStrike">
                <a:solidFill>
                  <a:srgbClr val="333F70"/>
                </a:solidFill>
                <a:latin typeface="Open Sans"/>
                <a:ea typeface="Open Sans"/>
                <a:cs typeface="Open Sans"/>
                <a:sym typeface="Open Sans"/>
              </a:rPr>
              <a:t>The DRB offers specific guidance or suggests modifications to the proposed approach. The submitter may need to revise the ADR based on this feedback before proceeding.</a:t>
            </a:r>
            <a:endParaRPr b="0" i="0" sz="1750" u="none" cap="none" strike="noStrike"/>
          </a:p>
        </p:txBody>
      </p:sp>
      <p:sp>
        <p:nvSpPr>
          <p:cNvPr id="134" name="Google Shape;134;p17"/>
          <p:cNvSpPr/>
          <p:nvPr/>
        </p:nvSpPr>
        <p:spPr>
          <a:xfrm>
            <a:off x="9872067" y="2958108"/>
            <a:ext cx="3978116"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F70"/>
              </a:buClr>
              <a:buSzPts val="2200"/>
              <a:buFont typeface="Unbounded"/>
              <a:buNone/>
            </a:pPr>
            <a:r>
              <a:rPr b="1" i="0" lang="en-US" sz="2200" u="none" cap="none" strike="noStrike">
                <a:solidFill>
                  <a:srgbClr val="333F70"/>
                </a:solidFill>
                <a:latin typeface="Unbounded"/>
                <a:ea typeface="Unbounded"/>
                <a:cs typeface="Unbounded"/>
                <a:sym typeface="Unbounded"/>
              </a:rPr>
              <a:t>Additional Information Needed</a:t>
            </a:r>
            <a:endParaRPr b="0" i="0" sz="2200" u="none" cap="none" strike="noStrike"/>
          </a:p>
        </p:txBody>
      </p:sp>
      <p:sp>
        <p:nvSpPr>
          <p:cNvPr id="135" name="Google Shape;135;p17"/>
          <p:cNvSpPr/>
          <p:nvPr/>
        </p:nvSpPr>
        <p:spPr>
          <a:xfrm>
            <a:off x="9872067" y="3893582"/>
            <a:ext cx="3978116" cy="217741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333F70"/>
              </a:buClr>
              <a:buSzPts val="1750"/>
              <a:buFont typeface="Open Sans"/>
              <a:buNone/>
            </a:pPr>
            <a:r>
              <a:rPr b="0" i="0" lang="en-US" sz="1750" u="none" cap="none" strike="noStrike">
                <a:solidFill>
                  <a:srgbClr val="333F70"/>
                </a:solidFill>
                <a:latin typeface="Open Sans"/>
                <a:ea typeface="Open Sans"/>
                <a:cs typeface="Open Sans"/>
                <a:sym typeface="Open Sans"/>
              </a:rPr>
              <a:t>The review reveals knowledge gaps that must be addressed before a final decision can be made. The ADR returns to the submitter for additional research and documentation.</a:t>
            </a:r>
            <a:endParaRPr b="0" i="0" sz="1750" u="none" cap="none" strike="noStrike"/>
          </a:p>
        </p:txBody>
      </p:sp>
      <p:sp>
        <p:nvSpPr>
          <p:cNvPr id="136" name="Google Shape;136;p17"/>
          <p:cNvSpPr/>
          <p:nvPr/>
        </p:nvSpPr>
        <p:spPr>
          <a:xfrm>
            <a:off x="793790" y="6530221"/>
            <a:ext cx="13042821" cy="725805"/>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333F70"/>
              </a:buClr>
              <a:buSzPts val="1750"/>
              <a:buFont typeface="Open Sans"/>
              <a:buNone/>
            </a:pPr>
            <a:r>
              <a:rPr b="0" i="0" lang="en-US" sz="1750" u="none" cap="none" strike="noStrike">
                <a:solidFill>
                  <a:srgbClr val="333F70"/>
                </a:solidFill>
                <a:latin typeface="Open Sans"/>
                <a:ea typeface="Open Sans"/>
                <a:cs typeface="Open Sans"/>
                <a:sym typeface="Open Sans"/>
              </a:rPr>
              <a:t>Throughout the review process, all comments, decisions, and updates are recorded directly in the ADR document, creating a comprehensive audit trail of the decision-making journey.</a:t>
            </a:r>
            <a:endParaRPr b="0" i="0" sz="1750" u="none" cap="none" strike="noStrike"/>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18"/>
          <p:cNvSpPr/>
          <p:nvPr/>
        </p:nvSpPr>
        <p:spPr>
          <a:xfrm>
            <a:off x="793790" y="788789"/>
            <a:ext cx="10600253" cy="708779"/>
          </a:xfrm>
          <a:prstGeom prst="rect">
            <a:avLst/>
          </a:prstGeom>
          <a:noFill/>
          <a:ln>
            <a:noFill/>
          </a:ln>
        </p:spPr>
        <p:txBody>
          <a:bodyPr anchorCtr="0" anchor="t" bIns="0" lIns="0" spcFirstLastPara="1" rIns="0" wrap="square" tIns="0">
            <a:noAutofit/>
          </a:bodyPr>
          <a:lstStyle/>
          <a:p>
            <a:pPr indent="0" lvl="0" marL="0" marR="0" rtl="0" algn="l">
              <a:lnSpc>
                <a:spcPct val="124719"/>
              </a:lnSpc>
              <a:spcBef>
                <a:spcPts val="0"/>
              </a:spcBef>
              <a:spcAft>
                <a:spcPts val="0"/>
              </a:spcAft>
              <a:buClr>
                <a:srgbClr val="333F70"/>
              </a:buClr>
              <a:buSzPts val="4450"/>
              <a:buFont typeface="Unbounded"/>
              <a:buNone/>
            </a:pPr>
            <a:r>
              <a:rPr b="1" i="0" lang="en-US" sz="4450" u="none" cap="none" strike="noStrike">
                <a:solidFill>
                  <a:srgbClr val="333F70"/>
                </a:solidFill>
                <a:latin typeface="Unbounded"/>
                <a:ea typeface="Unbounded"/>
                <a:cs typeface="Unbounded"/>
                <a:sym typeface="Unbounded"/>
              </a:rPr>
              <a:t>Presentation and Attendance</a:t>
            </a:r>
            <a:endParaRPr b="0" i="0" sz="4450" u="none" cap="none" strike="noStrike"/>
          </a:p>
        </p:txBody>
      </p:sp>
      <p:pic>
        <p:nvPicPr>
          <p:cNvPr descr="preencoded.png" id="143" name="Google Shape;143;p18"/>
          <p:cNvPicPr preferRelativeResize="0"/>
          <p:nvPr/>
        </p:nvPicPr>
        <p:blipFill rotWithShape="1">
          <a:blip r:embed="rId3">
            <a:alphaModFix/>
          </a:blip>
          <a:srcRect b="0" l="0" r="0" t="0"/>
          <a:stretch/>
        </p:blipFill>
        <p:spPr>
          <a:xfrm>
            <a:off x="793790" y="1951196"/>
            <a:ext cx="4120753" cy="2546747"/>
          </a:xfrm>
          <a:prstGeom prst="rect">
            <a:avLst/>
          </a:prstGeom>
          <a:noFill/>
          <a:ln>
            <a:noFill/>
          </a:ln>
        </p:spPr>
      </p:pic>
      <p:sp>
        <p:nvSpPr>
          <p:cNvPr id="144" name="Google Shape;144;p18"/>
          <p:cNvSpPr/>
          <p:nvPr/>
        </p:nvSpPr>
        <p:spPr>
          <a:xfrm>
            <a:off x="793790" y="4781431"/>
            <a:ext cx="2835235"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F70"/>
              </a:buClr>
              <a:buSzPts val="2200"/>
              <a:buFont typeface="Unbounded"/>
              <a:buNone/>
            </a:pPr>
            <a:r>
              <a:rPr b="1" i="0" lang="en-US" sz="2200" u="none" cap="none" strike="noStrike">
                <a:solidFill>
                  <a:srgbClr val="333F70"/>
                </a:solidFill>
                <a:latin typeface="Unbounded"/>
                <a:ea typeface="Unbounded"/>
                <a:cs typeface="Unbounded"/>
                <a:sym typeface="Unbounded"/>
              </a:rPr>
              <a:t>Presenter Role</a:t>
            </a:r>
            <a:endParaRPr b="0" i="0" sz="2200" u="none" cap="none" strike="noStrike"/>
          </a:p>
        </p:txBody>
      </p:sp>
      <p:sp>
        <p:nvSpPr>
          <p:cNvPr id="145" name="Google Shape;145;p18"/>
          <p:cNvSpPr/>
          <p:nvPr/>
        </p:nvSpPr>
        <p:spPr>
          <a:xfrm>
            <a:off x="793790" y="5271849"/>
            <a:ext cx="4120753"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333F70"/>
              </a:buClr>
              <a:buSzPts val="1750"/>
              <a:buFont typeface="Open Sans"/>
              <a:buNone/>
            </a:pPr>
            <a:r>
              <a:rPr b="0" i="0" lang="en-US" sz="1750" u="none" cap="none" strike="noStrike">
                <a:solidFill>
                  <a:srgbClr val="333F70"/>
                </a:solidFill>
                <a:latin typeface="Open Sans"/>
                <a:ea typeface="Open Sans"/>
                <a:cs typeface="Open Sans"/>
                <a:sym typeface="Open Sans"/>
              </a:rPr>
              <a:t>The ADR requestor is encouraged to attend the DRB meeting and present their proposal. This allows for direct clarification of questions and immediate incorporation of feedback.</a:t>
            </a:r>
            <a:endParaRPr b="0" i="0" sz="1750" u="none" cap="none" strike="noStrike"/>
          </a:p>
        </p:txBody>
      </p:sp>
      <p:pic>
        <p:nvPicPr>
          <p:cNvPr descr="preencoded.png" id="146" name="Google Shape;146;p18"/>
          <p:cNvPicPr preferRelativeResize="0"/>
          <p:nvPr/>
        </p:nvPicPr>
        <p:blipFill rotWithShape="1">
          <a:blip r:embed="rId4">
            <a:alphaModFix/>
          </a:blip>
          <a:srcRect b="0" l="0" r="0" t="0"/>
          <a:stretch/>
        </p:blipFill>
        <p:spPr>
          <a:xfrm>
            <a:off x="5254704" y="1951196"/>
            <a:ext cx="4120872" cy="2546866"/>
          </a:xfrm>
          <a:prstGeom prst="rect">
            <a:avLst/>
          </a:prstGeom>
          <a:noFill/>
          <a:ln>
            <a:noFill/>
          </a:ln>
        </p:spPr>
      </p:pic>
      <p:sp>
        <p:nvSpPr>
          <p:cNvPr id="147" name="Google Shape;147;p18"/>
          <p:cNvSpPr/>
          <p:nvPr/>
        </p:nvSpPr>
        <p:spPr>
          <a:xfrm>
            <a:off x="5254704" y="4781550"/>
            <a:ext cx="3414951" cy="35433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F70"/>
              </a:buClr>
              <a:buSzPts val="2200"/>
              <a:buFont typeface="Unbounded"/>
              <a:buNone/>
            </a:pPr>
            <a:r>
              <a:rPr b="1" i="0" lang="en-US" sz="2200" u="none" cap="none" strike="noStrike">
                <a:solidFill>
                  <a:srgbClr val="333F70"/>
                </a:solidFill>
                <a:latin typeface="Unbounded"/>
                <a:ea typeface="Unbounded"/>
                <a:cs typeface="Unbounded"/>
                <a:sym typeface="Unbounded"/>
              </a:rPr>
              <a:t>Facilitator Support</a:t>
            </a:r>
            <a:endParaRPr b="0" i="0" sz="2200" u="none" cap="none" strike="noStrike"/>
          </a:p>
        </p:txBody>
      </p:sp>
      <p:sp>
        <p:nvSpPr>
          <p:cNvPr id="148" name="Google Shape;148;p18"/>
          <p:cNvSpPr/>
          <p:nvPr/>
        </p:nvSpPr>
        <p:spPr>
          <a:xfrm>
            <a:off x="5254704" y="5271968"/>
            <a:ext cx="4120872"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333F70"/>
              </a:buClr>
              <a:buSzPts val="1750"/>
              <a:buFont typeface="Open Sans"/>
              <a:buNone/>
            </a:pPr>
            <a:r>
              <a:rPr b="0" i="0" lang="en-US" sz="1750" u="none" cap="none" strike="noStrike">
                <a:solidFill>
                  <a:srgbClr val="333F70"/>
                </a:solidFill>
                <a:latin typeface="Open Sans"/>
                <a:ea typeface="Open Sans"/>
                <a:cs typeface="Open Sans"/>
                <a:sym typeface="Open Sans"/>
              </a:rPr>
              <a:t>If the requestor is unavailable, the DRB facilitator will present the ADR on their behalf, ensuring the review proceeds on schedule regardless of attendance constraints.</a:t>
            </a:r>
            <a:endParaRPr b="0" i="0" sz="1750" u="none" cap="none" strike="noStrike"/>
          </a:p>
        </p:txBody>
      </p:sp>
      <p:pic>
        <p:nvPicPr>
          <p:cNvPr descr="preencoded.png" id="149" name="Google Shape;149;p18"/>
          <p:cNvPicPr preferRelativeResize="0"/>
          <p:nvPr/>
        </p:nvPicPr>
        <p:blipFill rotWithShape="1">
          <a:blip r:embed="rId5">
            <a:alphaModFix/>
          </a:blip>
          <a:srcRect b="0" l="0" r="0" t="0"/>
          <a:stretch/>
        </p:blipFill>
        <p:spPr>
          <a:xfrm>
            <a:off x="9715738" y="1951196"/>
            <a:ext cx="4120753" cy="2546747"/>
          </a:xfrm>
          <a:prstGeom prst="rect">
            <a:avLst/>
          </a:prstGeom>
          <a:noFill/>
          <a:ln>
            <a:noFill/>
          </a:ln>
        </p:spPr>
      </p:pic>
      <p:sp>
        <p:nvSpPr>
          <p:cNvPr id="150" name="Google Shape;150;p18"/>
          <p:cNvSpPr/>
          <p:nvPr/>
        </p:nvSpPr>
        <p:spPr>
          <a:xfrm>
            <a:off x="9715738" y="4781431"/>
            <a:ext cx="4120753" cy="708660"/>
          </a:xfrm>
          <a:prstGeom prst="rect">
            <a:avLst/>
          </a:prstGeom>
          <a:noFill/>
          <a:ln>
            <a:noFill/>
          </a:ln>
        </p:spPr>
        <p:txBody>
          <a:bodyPr anchorCtr="0" anchor="t" bIns="0" lIns="0" spcFirstLastPara="1" rIns="0" wrap="square" tIns="0">
            <a:noAutofit/>
          </a:bodyPr>
          <a:lstStyle/>
          <a:p>
            <a:pPr indent="0" lvl="0" marL="0" marR="0" rtl="0" algn="l">
              <a:lnSpc>
                <a:spcPct val="125000"/>
              </a:lnSpc>
              <a:spcBef>
                <a:spcPts val="0"/>
              </a:spcBef>
              <a:spcAft>
                <a:spcPts val="0"/>
              </a:spcAft>
              <a:buClr>
                <a:srgbClr val="333F70"/>
              </a:buClr>
              <a:buSzPts val="2200"/>
              <a:buFont typeface="Unbounded"/>
              <a:buNone/>
            </a:pPr>
            <a:r>
              <a:rPr b="1" i="0" lang="en-US" sz="2200" u="none" cap="none" strike="noStrike">
                <a:solidFill>
                  <a:srgbClr val="333F70"/>
                </a:solidFill>
                <a:latin typeface="Unbounded"/>
                <a:ea typeface="Unbounded"/>
                <a:cs typeface="Unbounded"/>
                <a:sym typeface="Unbounded"/>
              </a:rPr>
              <a:t>Documentation Process</a:t>
            </a:r>
            <a:endParaRPr b="0" i="0" sz="2200" u="none" cap="none" strike="noStrike"/>
          </a:p>
        </p:txBody>
      </p:sp>
      <p:sp>
        <p:nvSpPr>
          <p:cNvPr id="151" name="Google Shape;151;p18"/>
          <p:cNvSpPr/>
          <p:nvPr/>
        </p:nvSpPr>
        <p:spPr>
          <a:xfrm>
            <a:off x="9715738" y="5626179"/>
            <a:ext cx="4120753" cy="1814513"/>
          </a:xfrm>
          <a:prstGeom prst="rect">
            <a:avLst/>
          </a:prstGeom>
          <a:noFill/>
          <a:ln>
            <a:noFill/>
          </a:ln>
        </p:spPr>
        <p:txBody>
          <a:bodyPr anchorCtr="0" anchor="t" bIns="0" lIns="0" spcFirstLastPara="1" rIns="0" wrap="square" tIns="0">
            <a:noAutofit/>
          </a:bodyPr>
          <a:lstStyle/>
          <a:p>
            <a:pPr indent="0" lvl="0" marL="0" marR="0" rtl="0" algn="l">
              <a:lnSpc>
                <a:spcPct val="162857"/>
              </a:lnSpc>
              <a:spcBef>
                <a:spcPts val="0"/>
              </a:spcBef>
              <a:spcAft>
                <a:spcPts val="0"/>
              </a:spcAft>
              <a:buClr>
                <a:srgbClr val="333F70"/>
              </a:buClr>
              <a:buSzPts val="1750"/>
              <a:buFont typeface="Open Sans"/>
              <a:buNone/>
            </a:pPr>
            <a:r>
              <a:rPr b="0" i="0" lang="en-US" sz="1750" u="none" cap="none" strike="noStrike">
                <a:solidFill>
                  <a:srgbClr val="333F70"/>
                </a:solidFill>
                <a:latin typeface="Open Sans"/>
                <a:ea typeface="Open Sans"/>
                <a:cs typeface="Open Sans"/>
                <a:sym typeface="Open Sans"/>
              </a:rPr>
              <a:t>The DRB facilitator is responsible for documenting the discussion, recording the final disposition, and notifying the requestor after the meeting to maintain continuity.</a:t>
            </a:r>
            <a:endParaRPr b="0" i="0" sz="1750" u="none" cap="none" strike="noStrike"/>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descr="preencoded.png" id="157" name="Google Shape;157;p19"/>
          <p:cNvPicPr preferRelativeResize="0"/>
          <p:nvPr/>
        </p:nvPicPr>
        <p:blipFill rotWithShape="1">
          <a:blip r:embed="rId3">
            <a:alphaModFix/>
          </a:blip>
          <a:srcRect b="0" l="0" r="0" t="0"/>
          <a:stretch/>
        </p:blipFill>
        <p:spPr>
          <a:xfrm>
            <a:off x="0" y="0"/>
            <a:ext cx="14630400" cy="1984653"/>
          </a:xfrm>
          <a:prstGeom prst="rect">
            <a:avLst/>
          </a:prstGeom>
          <a:noFill/>
          <a:ln>
            <a:noFill/>
          </a:ln>
        </p:spPr>
      </p:pic>
      <p:sp>
        <p:nvSpPr>
          <p:cNvPr id="158" name="Google Shape;158;p19"/>
          <p:cNvSpPr/>
          <p:nvPr/>
        </p:nvSpPr>
        <p:spPr>
          <a:xfrm>
            <a:off x="793790" y="2650093"/>
            <a:ext cx="6751439" cy="496133"/>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333F70"/>
              </a:buClr>
              <a:buSzPts val="3100"/>
              <a:buFont typeface="Unbounded"/>
              <a:buNone/>
            </a:pPr>
            <a:r>
              <a:rPr b="1" i="0" lang="en-US" sz="3100" u="none" cap="none" strike="noStrike">
                <a:solidFill>
                  <a:srgbClr val="333F70"/>
                </a:solidFill>
                <a:latin typeface="Unbounded"/>
                <a:ea typeface="Unbounded"/>
                <a:cs typeface="Unbounded"/>
                <a:sym typeface="Unbounded"/>
              </a:rPr>
              <a:t>Action Items and Follow-up</a:t>
            </a:r>
            <a:endParaRPr b="0" i="0" sz="3100" u="none" cap="none" strike="noStrike"/>
          </a:p>
        </p:txBody>
      </p:sp>
      <p:sp>
        <p:nvSpPr>
          <p:cNvPr id="159" name="Google Shape;159;p19"/>
          <p:cNvSpPr/>
          <p:nvPr/>
        </p:nvSpPr>
        <p:spPr>
          <a:xfrm>
            <a:off x="7303770" y="3384352"/>
            <a:ext cx="22860" cy="3492937"/>
          </a:xfrm>
          <a:prstGeom prst="roundRect">
            <a:avLst>
              <a:gd fmla="val 291721" name="adj"/>
            </a:avLst>
          </a:prstGeom>
          <a:solidFill>
            <a:srgbClr val="BCD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19"/>
          <p:cNvSpPr/>
          <p:nvPr/>
        </p:nvSpPr>
        <p:spPr>
          <a:xfrm>
            <a:off x="6683216" y="3730109"/>
            <a:ext cx="476250" cy="22860"/>
          </a:xfrm>
          <a:prstGeom prst="roundRect">
            <a:avLst>
              <a:gd fmla="val 291721" name="adj"/>
            </a:avLst>
          </a:prstGeom>
          <a:solidFill>
            <a:srgbClr val="BCD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9"/>
          <p:cNvSpPr/>
          <p:nvPr/>
        </p:nvSpPr>
        <p:spPr>
          <a:xfrm>
            <a:off x="7136606" y="3562945"/>
            <a:ext cx="357188" cy="357188"/>
          </a:xfrm>
          <a:prstGeom prst="roundRect">
            <a:avLst>
              <a:gd fmla="val 18670"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9"/>
          <p:cNvSpPr/>
          <p:nvPr/>
        </p:nvSpPr>
        <p:spPr>
          <a:xfrm>
            <a:off x="7196137" y="3592711"/>
            <a:ext cx="238125" cy="29765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33F70"/>
              </a:buClr>
              <a:buSzPts val="1850"/>
              <a:buFont typeface="Unbounded"/>
              <a:buNone/>
            </a:pPr>
            <a:r>
              <a:rPr b="1" i="0" lang="en-US" sz="1850" u="none" cap="none" strike="noStrike">
                <a:solidFill>
                  <a:srgbClr val="333F70"/>
                </a:solidFill>
                <a:latin typeface="Unbounded"/>
                <a:ea typeface="Unbounded"/>
                <a:cs typeface="Unbounded"/>
                <a:sym typeface="Unbounded"/>
              </a:rPr>
              <a:t>1</a:t>
            </a:r>
            <a:endParaRPr b="0" i="0" sz="1850" u="none" cap="none" strike="noStrike"/>
          </a:p>
        </p:txBody>
      </p:sp>
      <p:sp>
        <p:nvSpPr>
          <p:cNvPr id="163" name="Google Shape;163;p19"/>
          <p:cNvSpPr/>
          <p:nvPr/>
        </p:nvSpPr>
        <p:spPr>
          <a:xfrm>
            <a:off x="4536758" y="3543062"/>
            <a:ext cx="1984653" cy="248007"/>
          </a:xfrm>
          <a:prstGeom prst="rect">
            <a:avLst/>
          </a:prstGeom>
          <a:noFill/>
          <a:ln>
            <a:noFill/>
          </a:ln>
        </p:spPr>
        <p:txBody>
          <a:bodyPr anchorCtr="0" anchor="t" bIns="0" lIns="0" spcFirstLastPara="1" rIns="0" wrap="square" tIns="0">
            <a:noAutofit/>
          </a:bodyPr>
          <a:lstStyle/>
          <a:p>
            <a:pPr indent="0" lvl="0" marL="0" marR="0" rtl="0" algn="r">
              <a:lnSpc>
                <a:spcPct val="125806"/>
              </a:lnSpc>
              <a:spcBef>
                <a:spcPts val="0"/>
              </a:spcBef>
              <a:spcAft>
                <a:spcPts val="0"/>
              </a:spcAft>
              <a:buClr>
                <a:srgbClr val="333F70"/>
              </a:buClr>
              <a:buSzPts val="1550"/>
              <a:buFont typeface="Unbounded"/>
              <a:buNone/>
            </a:pPr>
            <a:r>
              <a:rPr b="1" i="0" lang="en-US" sz="1550" u="none" cap="none" strike="noStrike">
                <a:solidFill>
                  <a:srgbClr val="333F70"/>
                </a:solidFill>
                <a:latin typeface="Unbounded"/>
                <a:ea typeface="Unbounded"/>
                <a:cs typeface="Unbounded"/>
                <a:sym typeface="Unbounded"/>
              </a:rPr>
              <a:t>Identification</a:t>
            </a:r>
            <a:endParaRPr b="0" i="0" sz="1550" u="none" cap="none" strike="noStrike"/>
          </a:p>
        </p:txBody>
      </p:sp>
      <p:sp>
        <p:nvSpPr>
          <p:cNvPr id="164" name="Google Shape;164;p19"/>
          <p:cNvSpPr/>
          <p:nvPr/>
        </p:nvSpPr>
        <p:spPr>
          <a:xfrm>
            <a:off x="793790" y="3886319"/>
            <a:ext cx="5727621" cy="508159"/>
          </a:xfrm>
          <a:prstGeom prst="rect">
            <a:avLst/>
          </a:prstGeom>
          <a:noFill/>
          <a:ln>
            <a:noFill/>
          </a:ln>
        </p:spPr>
        <p:txBody>
          <a:bodyPr anchorCtr="0" anchor="t" bIns="0" lIns="0" spcFirstLastPara="1" rIns="0" wrap="square" tIns="0">
            <a:noAutofit/>
          </a:bodyPr>
          <a:lstStyle/>
          <a:p>
            <a:pPr indent="0" lvl="0" marL="0" marR="0" rtl="0" algn="r">
              <a:lnSpc>
                <a:spcPct val="160000"/>
              </a:lnSpc>
              <a:spcBef>
                <a:spcPts val="0"/>
              </a:spcBef>
              <a:spcAft>
                <a:spcPts val="0"/>
              </a:spcAft>
              <a:buClr>
                <a:srgbClr val="333F70"/>
              </a:buClr>
              <a:buSzPts val="1250"/>
              <a:buFont typeface="Open Sans"/>
              <a:buNone/>
            </a:pPr>
            <a:r>
              <a:rPr b="0" i="0" lang="en-US" sz="1250" u="none" cap="none" strike="noStrike">
                <a:solidFill>
                  <a:srgbClr val="333F70"/>
                </a:solidFill>
                <a:latin typeface="Open Sans"/>
                <a:ea typeface="Open Sans"/>
                <a:cs typeface="Open Sans"/>
                <a:sym typeface="Open Sans"/>
              </a:rPr>
              <a:t>During DRB review, action items are identified and clearly articulated to ensure all necessary follow-up work is captured.</a:t>
            </a:r>
            <a:endParaRPr b="0" i="0" sz="1250" u="none" cap="none" strike="noStrike"/>
          </a:p>
        </p:txBody>
      </p:sp>
      <p:sp>
        <p:nvSpPr>
          <p:cNvPr id="165" name="Google Shape;165;p19"/>
          <p:cNvSpPr/>
          <p:nvPr/>
        </p:nvSpPr>
        <p:spPr>
          <a:xfrm>
            <a:off x="7470934" y="4523899"/>
            <a:ext cx="476250" cy="22860"/>
          </a:xfrm>
          <a:prstGeom prst="roundRect">
            <a:avLst>
              <a:gd fmla="val 291721" name="adj"/>
            </a:avLst>
          </a:prstGeom>
          <a:solidFill>
            <a:srgbClr val="BCD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9"/>
          <p:cNvSpPr/>
          <p:nvPr/>
        </p:nvSpPr>
        <p:spPr>
          <a:xfrm>
            <a:off x="7136606" y="4356735"/>
            <a:ext cx="357188" cy="357188"/>
          </a:xfrm>
          <a:prstGeom prst="roundRect">
            <a:avLst>
              <a:gd fmla="val 18670"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9"/>
          <p:cNvSpPr/>
          <p:nvPr/>
        </p:nvSpPr>
        <p:spPr>
          <a:xfrm>
            <a:off x="7196137" y="4386501"/>
            <a:ext cx="238125" cy="29765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33F70"/>
              </a:buClr>
              <a:buSzPts val="1850"/>
              <a:buFont typeface="Unbounded"/>
              <a:buNone/>
            </a:pPr>
            <a:r>
              <a:rPr b="1" i="0" lang="en-US" sz="1850" u="none" cap="none" strike="noStrike">
                <a:solidFill>
                  <a:srgbClr val="333F70"/>
                </a:solidFill>
                <a:latin typeface="Unbounded"/>
                <a:ea typeface="Unbounded"/>
                <a:cs typeface="Unbounded"/>
                <a:sym typeface="Unbounded"/>
              </a:rPr>
              <a:t>2</a:t>
            </a:r>
            <a:endParaRPr b="0" i="0" sz="1850" u="none" cap="none" strike="noStrike"/>
          </a:p>
        </p:txBody>
      </p:sp>
      <p:sp>
        <p:nvSpPr>
          <p:cNvPr id="168" name="Google Shape;168;p19"/>
          <p:cNvSpPr/>
          <p:nvPr/>
        </p:nvSpPr>
        <p:spPr>
          <a:xfrm>
            <a:off x="8108990" y="4336852"/>
            <a:ext cx="1984653"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333F70"/>
              </a:buClr>
              <a:buSzPts val="1550"/>
              <a:buFont typeface="Unbounded"/>
              <a:buNone/>
            </a:pPr>
            <a:r>
              <a:rPr b="1" i="0" lang="en-US" sz="1550" u="none" cap="none" strike="noStrike">
                <a:solidFill>
                  <a:srgbClr val="333F70"/>
                </a:solidFill>
                <a:latin typeface="Unbounded"/>
                <a:ea typeface="Unbounded"/>
                <a:cs typeface="Unbounded"/>
                <a:sym typeface="Unbounded"/>
              </a:rPr>
              <a:t>Documentation</a:t>
            </a:r>
            <a:endParaRPr b="0" i="0" sz="1550" u="none" cap="none" strike="noStrike"/>
          </a:p>
        </p:txBody>
      </p:sp>
      <p:sp>
        <p:nvSpPr>
          <p:cNvPr id="169" name="Google Shape;169;p19"/>
          <p:cNvSpPr/>
          <p:nvPr/>
        </p:nvSpPr>
        <p:spPr>
          <a:xfrm>
            <a:off x="8108990" y="4680109"/>
            <a:ext cx="5727621" cy="50815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250"/>
              <a:buFont typeface="Open Sans"/>
              <a:buNone/>
            </a:pPr>
            <a:r>
              <a:rPr b="0" i="0" lang="en-US" sz="1250" u="none" cap="none" strike="noStrike">
                <a:solidFill>
                  <a:srgbClr val="333F70"/>
                </a:solidFill>
                <a:latin typeface="Open Sans"/>
                <a:ea typeface="Open Sans"/>
                <a:cs typeface="Open Sans"/>
                <a:sym typeface="Open Sans"/>
              </a:rPr>
              <a:t>Action items are recorded in a centralized Confluence log with assigned owners and specific due dates, typically by the next DRB meeting.</a:t>
            </a:r>
            <a:endParaRPr b="0" i="0" sz="1250" u="none" cap="none" strike="noStrike"/>
          </a:p>
        </p:txBody>
      </p:sp>
      <p:sp>
        <p:nvSpPr>
          <p:cNvPr id="170" name="Google Shape;170;p19"/>
          <p:cNvSpPr/>
          <p:nvPr/>
        </p:nvSpPr>
        <p:spPr>
          <a:xfrm>
            <a:off x="6683216" y="5238274"/>
            <a:ext cx="476250" cy="22860"/>
          </a:xfrm>
          <a:prstGeom prst="roundRect">
            <a:avLst>
              <a:gd fmla="val 291721" name="adj"/>
            </a:avLst>
          </a:prstGeom>
          <a:solidFill>
            <a:srgbClr val="BCD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9"/>
          <p:cNvSpPr/>
          <p:nvPr/>
        </p:nvSpPr>
        <p:spPr>
          <a:xfrm>
            <a:off x="7136606" y="5071110"/>
            <a:ext cx="357188" cy="357188"/>
          </a:xfrm>
          <a:prstGeom prst="roundRect">
            <a:avLst>
              <a:gd fmla="val 18670"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9"/>
          <p:cNvSpPr/>
          <p:nvPr/>
        </p:nvSpPr>
        <p:spPr>
          <a:xfrm>
            <a:off x="7196137" y="5100876"/>
            <a:ext cx="238125" cy="29765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33F70"/>
              </a:buClr>
              <a:buSzPts val="1850"/>
              <a:buFont typeface="Unbounded"/>
              <a:buNone/>
            </a:pPr>
            <a:r>
              <a:rPr b="1" i="0" lang="en-US" sz="1850" u="none" cap="none" strike="noStrike">
                <a:solidFill>
                  <a:srgbClr val="333F70"/>
                </a:solidFill>
                <a:latin typeface="Unbounded"/>
                <a:ea typeface="Unbounded"/>
                <a:cs typeface="Unbounded"/>
                <a:sym typeface="Unbounded"/>
              </a:rPr>
              <a:t>3</a:t>
            </a:r>
            <a:endParaRPr b="0" i="0" sz="1850" u="none" cap="none" strike="noStrike"/>
          </a:p>
        </p:txBody>
      </p:sp>
      <p:sp>
        <p:nvSpPr>
          <p:cNvPr id="173" name="Google Shape;173;p19"/>
          <p:cNvSpPr/>
          <p:nvPr/>
        </p:nvSpPr>
        <p:spPr>
          <a:xfrm>
            <a:off x="4536758" y="5051227"/>
            <a:ext cx="1984653" cy="248007"/>
          </a:xfrm>
          <a:prstGeom prst="rect">
            <a:avLst/>
          </a:prstGeom>
          <a:noFill/>
          <a:ln>
            <a:noFill/>
          </a:ln>
        </p:spPr>
        <p:txBody>
          <a:bodyPr anchorCtr="0" anchor="t" bIns="0" lIns="0" spcFirstLastPara="1" rIns="0" wrap="square" tIns="0">
            <a:noAutofit/>
          </a:bodyPr>
          <a:lstStyle/>
          <a:p>
            <a:pPr indent="0" lvl="0" marL="0" marR="0" rtl="0" algn="r">
              <a:lnSpc>
                <a:spcPct val="125806"/>
              </a:lnSpc>
              <a:spcBef>
                <a:spcPts val="0"/>
              </a:spcBef>
              <a:spcAft>
                <a:spcPts val="0"/>
              </a:spcAft>
              <a:buClr>
                <a:srgbClr val="333F70"/>
              </a:buClr>
              <a:buSzPts val="1550"/>
              <a:buFont typeface="Unbounded"/>
              <a:buNone/>
            </a:pPr>
            <a:r>
              <a:rPr b="1" i="0" lang="en-US" sz="1550" u="none" cap="none" strike="noStrike">
                <a:solidFill>
                  <a:srgbClr val="333F70"/>
                </a:solidFill>
                <a:latin typeface="Unbounded"/>
                <a:ea typeface="Unbounded"/>
                <a:cs typeface="Unbounded"/>
                <a:sym typeface="Unbounded"/>
              </a:rPr>
              <a:t>Execution</a:t>
            </a:r>
            <a:endParaRPr b="0" i="0" sz="1550" u="none" cap="none" strike="noStrike"/>
          </a:p>
        </p:txBody>
      </p:sp>
      <p:sp>
        <p:nvSpPr>
          <p:cNvPr id="174" name="Google Shape;174;p19"/>
          <p:cNvSpPr/>
          <p:nvPr/>
        </p:nvSpPr>
        <p:spPr>
          <a:xfrm>
            <a:off x="793790" y="5394484"/>
            <a:ext cx="5727621" cy="508159"/>
          </a:xfrm>
          <a:prstGeom prst="rect">
            <a:avLst/>
          </a:prstGeom>
          <a:noFill/>
          <a:ln>
            <a:noFill/>
          </a:ln>
        </p:spPr>
        <p:txBody>
          <a:bodyPr anchorCtr="0" anchor="t" bIns="0" lIns="0" spcFirstLastPara="1" rIns="0" wrap="square" tIns="0">
            <a:noAutofit/>
          </a:bodyPr>
          <a:lstStyle/>
          <a:p>
            <a:pPr indent="0" lvl="0" marL="0" marR="0" rtl="0" algn="r">
              <a:lnSpc>
                <a:spcPct val="160000"/>
              </a:lnSpc>
              <a:spcBef>
                <a:spcPts val="0"/>
              </a:spcBef>
              <a:spcAft>
                <a:spcPts val="0"/>
              </a:spcAft>
              <a:buClr>
                <a:srgbClr val="333F70"/>
              </a:buClr>
              <a:buSzPts val="1250"/>
              <a:buFont typeface="Open Sans"/>
              <a:buNone/>
            </a:pPr>
            <a:r>
              <a:rPr b="0" i="0" lang="en-US" sz="1250" u="none" cap="none" strike="noStrike">
                <a:solidFill>
                  <a:srgbClr val="333F70"/>
                </a:solidFill>
                <a:latin typeface="Open Sans"/>
                <a:ea typeface="Open Sans"/>
                <a:cs typeface="Open Sans"/>
                <a:sym typeface="Open Sans"/>
              </a:rPr>
              <a:t>Assigned individuals complete their action items, gathering information or making necessary changes to the ADR.</a:t>
            </a:r>
            <a:endParaRPr b="0" i="0" sz="1250" u="none" cap="none" strike="noStrike"/>
          </a:p>
        </p:txBody>
      </p:sp>
      <p:sp>
        <p:nvSpPr>
          <p:cNvPr id="175" name="Google Shape;175;p19"/>
          <p:cNvSpPr/>
          <p:nvPr/>
        </p:nvSpPr>
        <p:spPr>
          <a:xfrm>
            <a:off x="7470934" y="5952768"/>
            <a:ext cx="476250" cy="22860"/>
          </a:xfrm>
          <a:prstGeom prst="roundRect">
            <a:avLst>
              <a:gd fmla="val 291721" name="adj"/>
            </a:avLst>
          </a:prstGeom>
          <a:solidFill>
            <a:srgbClr val="BCDBD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9"/>
          <p:cNvSpPr/>
          <p:nvPr/>
        </p:nvSpPr>
        <p:spPr>
          <a:xfrm>
            <a:off x="7136606" y="5785604"/>
            <a:ext cx="357188" cy="357188"/>
          </a:xfrm>
          <a:prstGeom prst="roundRect">
            <a:avLst>
              <a:gd fmla="val 18670"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9"/>
          <p:cNvSpPr/>
          <p:nvPr/>
        </p:nvSpPr>
        <p:spPr>
          <a:xfrm>
            <a:off x="7196137" y="5815370"/>
            <a:ext cx="238125" cy="297656"/>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333F70"/>
              </a:buClr>
              <a:buSzPts val="1850"/>
              <a:buFont typeface="Unbounded"/>
              <a:buNone/>
            </a:pPr>
            <a:r>
              <a:rPr b="1" i="0" lang="en-US" sz="1850" u="none" cap="none" strike="noStrike">
                <a:solidFill>
                  <a:srgbClr val="333F70"/>
                </a:solidFill>
                <a:latin typeface="Unbounded"/>
                <a:ea typeface="Unbounded"/>
                <a:cs typeface="Unbounded"/>
                <a:sym typeface="Unbounded"/>
              </a:rPr>
              <a:t>4</a:t>
            </a:r>
            <a:endParaRPr b="0" i="0" sz="1850" u="none" cap="none" strike="noStrike"/>
          </a:p>
        </p:txBody>
      </p:sp>
      <p:sp>
        <p:nvSpPr>
          <p:cNvPr id="178" name="Google Shape;178;p19"/>
          <p:cNvSpPr/>
          <p:nvPr/>
        </p:nvSpPr>
        <p:spPr>
          <a:xfrm>
            <a:off x="8108990" y="5765721"/>
            <a:ext cx="1984653"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333F70"/>
              </a:buClr>
              <a:buSzPts val="1550"/>
              <a:buFont typeface="Unbounded"/>
              <a:buNone/>
            </a:pPr>
            <a:r>
              <a:rPr b="1" i="0" lang="en-US" sz="1550" u="none" cap="none" strike="noStrike">
                <a:solidFill>
                  <a:srgbClr val="333F70"/>
                </a:solidFill>
                <a:latin typeface="Unbounded"/>
                <a:ea typeface="Unbounded"/>
                <a:cs typeface="Unbounded"/>
                <a:sym typeface="Unbounded"/>
              </a:rPr>
              <a:t>Verification</a:t>
            </a:r>
            <a:endParaRPr b="0" i="0" sz="1550" u="none" cap="none" strike="noStrike"/>
          </a:p>
        </p:txBody>
      </p:sp>
      <p:sp>
        <p:nvSpPr>
          <p:cNvPr id="179" name="Google Shape;179;p19"/>
          <p:cNvSpPr/>
          <p:nvPr/>
        </p:nvSpPr>
        <p:spPr>
          <a:xfrm>
            <a:off x="8108990" y="6108978"/>
            <a:ext cx="5727621" cy="50815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250"/>
              <a:buFont typeface="Open Sans"/>
              <a:buNone/>
            </a:pPr>
            <a:r>
              <a:rPr b="0" i="0" lang="en-US" sz="1250" u="none" cap="none" strike="noStrike">
                <a:solidFill>
                  <a:srgbClr val="333F70"/>
                </a:solidFill>
                <a:latin typeface="Open Sans"/>
                <a:ea typeface="Open Sans"/>
                <a:cs typeface="Open Sans"/>
                <a:sym typeface="Open Sans"/>
              </a:rPr>
              <a:t>At subsequent DRB meetings, completed action items are reviewed and closed, with updates recorded in both the action log and the ADR.</a:t>
            </a:r>
            <a:endParaRPr b="0" i="0" sz="1250" u="none" cap="none" strike="noStrike"/>
          </a:p>
        </p:txBody>
      </p:sp>
      <p:sp>
        <p:nvSpPr>
          <p:cNvPr id="180" name="Google Shape;180;p19"/>
          <p:cNvSpPr/>
          <p:nvPr/>
        </p:nvSpPr>
        <p:spPr>
          <a:xfrm>
            <a:off x="793790" y="7055882"/>
            <a:ext cx="13042821" cy="50815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250"/>
              <a:buFont typeface="Open Sans"/>
              <a:buNone/>
            </a:pPr>
            <a:r>
              <a:rPr b="0" i="0" lang="en-US" sz="1250" u="none" cap="none" strike="noStrike">
                <a:solidFill>
                  <a:srgbClr val="333F70"/>
                </a:solidFill>
                <a:latin typeface="Open Sans"/>
                <a:ea typeface="Open Sans"/>
                <a:cs typeface="Open Sans"/>
                <a:sym typeface="Open Sans"/>
              </a:rPr>
              <a:t>This structured follow-up process ensures accountability and prevents ADRs from stalling in an incomplete state, maintaining momentum in the architectural decision-making process.</a:t>
            </a:r>
            <a:endParaRPr b="0" i="0" sz="1250" u="none" cap="none" strike="noStrike"/>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descr="preencoded.png" id="186" name="Google Shape;186;p20"/>
          <p:cNvPicPr preferRelativeResize="0"/>
          <p:nvPr/>
        </p:nvPicPr>
        <p:blipFill rotWithShape="1">
          <a:blip r:embed="rId3">
            <a:alphaModFix/>
          </a:blip>
          <a:srcRect b="0" l="0" r="0" t="0"/>
          <a:stretch/>
        </p:blipFill>
        <p:spPr>
          <a:xfrm>
            <a:off x="0" y="0"/>
            <a:ext cx="5486400" cy="8229600"/>
          </a:xfrm>
          <a:prstGeom prst="rect">
            <a:avLst/>
          </a:prstGeom>
          <a:noFill/>
          <a:ln>
            <a:noFill/>
          </a:ln>
        </p:spPr>
      </p:pic>
      <p:sp>
        <p:nvSpPr>
          <p:cNvPr id="187" name="Google Shape;187;p20"/>
          <p:cNvSpPr/>
          <p:nvPr/>
        </p:nvSpPr>
        <p:spPr>
          <a:xfrm>
            <a:off x="6280190" y="979170"/>
            <a:ext cx="7071598" cy="496133"/>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333F70"/>
              </a:buClr>
              <a:buSzPts val="3100"/>
              <a:buFont typeface="Unbounded"/>
              <a:buNone/>
            </a:pPr>
            <a:r>
              <a:rPr b="1" i="0" lang="en-US" sz="3100" u="none" cap="none" strike="noStrike">
                <a:solidFill>
                  <a:srgbClr val="333F70"/>
                </a:solidFill>
                <a:latin typeface="Unbounded"/>
                <a:ea typeface="Unbounded"/>
                <a:cs typeface="Unbounded"/>
                <a:sym typeface="Unbounded"/>
              </a:rPr>
              <a:t>Benefits of Our ADR Process</a:t>
            </a:r>
            <a:endParaRPr b="0" i="0" sz="3100" u="none" cap="none" strike="noStrike"/>
          </a:p>
        </p:txBody>
      </p:sp>
      <p:sp>
        <p:nvSpPr>
          <p:cNvPr id="188" name="Google Shape;188;p20"/>
          <p:cNvSpPr/>
          <p:nvPr/>
        </p:nvSpPr>
        <p:spPr>
          <a:xfrm>
            <a:off x="6280190" y="1892022"/>
            <a:ext cx="357188" cy="357188"/>
          </a:xfrm>
          <a:prstGeom prst="roundRect">
            <a:avLst>
              <a:gd fmla="val 18670"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20"/>
          <p:cNvSpPr/>
          <p:nvPr/>
        </p:nvSpPr>
        <p:spPr>
          <a:xfrm>
            <a:off x="6796087" y="1892022"/>
            <a:ext cx="3184684"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333F70"/>
              </a:buClr>
              <a:buSzPts val="1550"/>
              <a:buFont typeface="Unbounded"/>
              <a:buNone/>
            </a:pPr>
            <a:r>
              <a:rPr b="1" i="0" lang="en-US" sz="1550" u="none" cap="none" strike="noStrike">
                <a:solidFill>
                  <a:srgbClr val="333F70"/>
                </a:solidFill>
                <a:latin typeface="Unbounded"/>
                <a:ea typeface="Unbounded"/>
                <a:cs typeface="Unbounded"/>
                <a:sym typeface="Unbounded"/>
              </a:rPr>
              <a:t>Efficient Decision Making</a:t>
            </a:r>
            <a:endParaRPr b="0" i="0" sz="1550" u="none" cap="none" strike="noStrike"/>
          </a:p>
        </p:txBody>
      </p:sp>
      <p:sp>
        <p:nvSpPr>
          <p:cNvPr id="190" name="Google Shape;190;p20"/>
          <p:cNvSpPr/>
          <p:nvPr/>
        </p:nvSpPr>
        <p:spPr>
          <a:xfrm>
            <a:off x="6796087" y="2235279"/>
            <a:ext cx="7040523" cy="50815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250"/>
              <a:buFont typeface="Open Sans"/>
              <a:buNone/>
            </a:pPr>
            <a:r>
              <a:rPr b="0" i="0" lang="en-US" sz="1250" u="none" cap="none" strike="noStrike">
                <a:solidFill>
                  <a:srgbClr val="333F70"/>
                </a:solidFill>
                <a:latin typeface="Open Sans"/>
                <a:ea typeface="Open Sans"/>
                <a:cs typeface="Open Sans"/>
                <a:sym typeface="Open Sans"/>
              </a:rPr>
              <a:t>Our streamlined process balances thoroughness with speed, providing multiple paths for resolution based on complexity and impact.</a:t>
            </a:r>
            <a:endParaRPr b="0" i="0" sz="1250" u="none" cap="none" strike="noStrike"/>
          </a:p>
        </p:txBody>
      </p:sp>
      <p:sp>
        <p:nvSpPr>
          <p:cNvPr id="191" name="Google Shape;191;p20"/>
          <p:cNvSpPr/>
          <p:nvPr/>
        </p:nvSpPr>
        <p:spPr>
          <a:xfrm>
            <a:off x="6280190" y="3080742"/>
            <a:ext cx="357188" cy="357188"/>
          </a:xfrm>
          <a:prstGeom prst="roundRect">
            <a:avLst>
              <a:gd fmla="val 18670"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20"/>
          <p:cNvSpPr/>
          <p:nvPr/>
        </p:nvSpPr>
        <p:spPr>
          <a:xfrm>
            <a:off x="6796087" y="3080742"/>
            <a:ext cx="3056572"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333F70"/>
              </a:buClr>
              <a:buSzPts val="1550"/>
              <a:buFont typeface="Unbounded"/>
              <a:buNone/>
            </a:pPr>
            <a:r>
              <a:rPr b="1" i="0" lang="en-US" sz="1550" u="none" cap="none" strike="noStrike">
                <a:solidFill>
                  <a:srgbClr val="333F70"/>
                </a:solidFill>
                <a:latin typeface="Unbounded"/>
                <a:ea typeface="Unbounded"/>
                <a:cs typeface="Unbounded"/>
                <a:sym typeface="Unbounded"/>
              </a:rPr>
              <a:t>Knowledge Preservation</a:t>
            </a:r>
            <a:endParaRPr b="0" i="0" sz="1550" u="none" cap="none" strike="noStrike"/>
          </a:p>
        </p:txBody>
      </p:sp>
      <p:sp>
        <p:nvSpPr>
          <p:cNvPr id="193" name="Google Shape;193;p20"/>
          <p:cNvSpPr/>
          <p:nvPr/>
        </p:nvSpPr>
        <p:spPr>
          <a:xfrm>
            <a:off x="6796087" y="3423999"/>
            <a:ext cx="7040523" cy="50815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250"/>
              <a:buFont typeface="Open Sans"/>
              <a:buNone/>
            </a:pPr>
            <a:r>
              <a:rPr b="0" i="0" lang="en-US" sz="1250" u="none" cap="none" strike="noStrike">
                <a:solidFill>
                  <a:srgbClr val="333F70"/>
                </a:solidFill>
                <a:latin typeface="Open Sans"/>
                <a:ea typeface="Open Sans"/>
                <a:cs typeface="Open Sans"/>
                <a:sym typeface="Open Sans"/>
              </a:rPr>
              <a:t>Comprehensive documentation creates an organizational memory of architectural decisions, preventing repeated debates and providing context for future teams.</a:t>
            </a:r>
            <a:endParaRPr b="0" i="0" sz="1250" u="none" cap="none" strike="noStrike"/>
          </a:p>
        </p:txBody>
      </p:sp>
      <p:sp>
        <p:nvSpPr>
          <p:cNvPr id="194" name="Google Shape;194;p20"/>
          <p:cNvSpPr/>
          <p:nvPr/>
        </p:nvSpPr>
        <p:spPr>
          <a:xfrm>
            <a:off x="6280190" y="4269462"/>
            <a:ext cx="357188" cy="357188"/>
          </a:xfrm>
          <a:prstGeom prst="roundRect">
            <a:avLst>
              <a:gd fmla="val 18670"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20"/>
          <p:cNvSpPr/>
          <p:nvPr/>
        </p:nvSpPr>
        <p:spPr>
          <a:xfrm>
            <a:off x="6796087" y="4269462"/>
            <a:ext cx="2945487"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333F70"/>
              </a:buClr>
              <a:buSzPts val="1550"/>
              <a:buFont typeface="Unbounded"/>
              <a:buNone/>
            </a:pPr>
            <a:r>
              <a:rPr b="1" i="0" lang="en-US" sz="1550" u="none" cap="none" strike="noStrike">
                <a:solidFill>
                  <a:srgbClr val="333F70"/>
                </a:solidFill>
                <a:latin typeface="Unbounded"/>
                <a:ea typeface="Unbounded"/>
                <a:cs typeface="Unbounded"/>
                <a:sym typeface="Unbounded"/>
              </a:rPr>
              <a:t>Improved Collaboration</a:t>
            </a:r>
            <a:endParaRPr b="0" i="0" sz="1550" u="none" cap="none" strike="noStrike"/>
          </a:p>
        </p:txBody>
      </p:sp>
      <p:sp>
        <p:nvSpPr>
          <p:cNvPr id="196" name="Google Shape;196;p20"/>
          <p:cNvSpPr/>
          <p:nvPr/>
        </p:nvSpPr>
        <p:spPr>
          <a:xfrm>
            <a:off x="6796087" y="4612719"/>
            <a:ext cx="7040523" cy="50815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250"/>
              <a:buFont typeface="Open Sans"/>
              <a:buNone/>
            </a:pPr>
            <a:r>
              <a:rPr b="0" i="0" lang="en-US" sz="1250" u="none" cap="none" strike="noStrike">
                <a:solidFill>
                  <a:srgbClr val="333F70"/>
                </a:solidFill>
                <a:latin typeface="Open Sans"/>
                <a:ea typeface="Open Sans"/>
                <a:cs typeface="Open Sans"/>
                <a:sym typeface="Open Sans"/>
              </a:rPr>
              <a:t>The structured review process brings together diverse perspectives and expertise, leading to more robust architectural decisions.</a:t>
            </a:r>
            <a:endParaRPr b="0" i="0" sz="1250" u="none" cap="none" strike="noStrike"/>
          </a:p>
        </p:txBody>
      </p:sp>
      <p:sp>
        <p:nvSpPr>
          <p:cNvPr id="197" name="Google Shape;197;p20"/>
          <p:cNvSpPr/>
          <p:nvPr/>
        </p:nvSpPr>
        <p:spPr>
          <a:xfrm>
            <a:off x="6280190" y="5458182"/>
            <a:ext cx="357188" cy="357188"/>
          </a:xfrm>
          <a:prstGeom prst="roundRect">
            <a:avLst>
              <a:gd fmla="val 18670" name="adj"/>
            </a:avLst>
          </a:prstGeom>
          <a:solidFill>
            <a:srgbClr val="D6F5EE"/>
          </a:solidFill>
          <a:ln cap="flat" cmpd="sng" w="9525">
            <a:solidFill>
              <a:srgbClr val="BCDBD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20"/>
          <p:cNvSpPr/>
          <p:nvPr/>
        </p:nvSpPr>
        <p:spPr>
          <a:xfrm>
            <a:off x="6796087" y="5458182"/>
            <a:ext cx="3143845" cy="248007"/>
          </a:xfrm>
          <a:prstGeom prst="rect">
            <a:avLst/>
          </a:prstGeom>
          <a:noFill/>
          <a:ln>
            <a:noFill/>
          </a:ln>
        </p:spPr>
        <p:txBody>
          <a:bodyPr anchorCtr="0" anchor="t" bIns="0" lIns="0" spcFirstLastPara="1" rIns="0" wrap="square" tIns="0">
            <a:noAutofit/>
          </a:bodyPr>
          <a:lstStyle/>
          <a:p>
            <a:pPr indent="0" lvl="0" marL="0" marR="0" rtl="0" algn="l">
              <a:lnSpc>
                <a:spcPct val="125806"/>
              </a:lnSpc>
              <a:spcBef>
                <a:spcPts val="0"/>
              </a:spcBef>
              <a:spcAft>
                <a:spcPts val="0"/>
              </a:spcAft>
              <a:buClr>
                <a:srgbClr val="333F70"/>
              </a:buClr>
              <a:buSzPts val="1550"/>
              <a:buFont typeface="Unbounded"/>
              <a:buNone/>
            </a:pPr>
            <a:r>
              <a:rPr b="1" i="0" lang="en-US" sz="1550" u="none" cap="none" strike="noStrike">
                <a:solidFill>
                  <a:srgbClr val="333F70"/>
                </a:solidFill>
                <a:latin typeface="Unbounded"/>
                <a:ea typeface="Unbounded"/>
                <a:cs typeface="Unbounded"/>
                <a:sym typeface="Unbounded"/>
              </a:rPr>
              <a:t>Transparent Governance</a:t>
            </a:r>
            <a:endParaRPr b="0" i="0" sz="1550" u="none" cap="none" strike="noStrike"/>
          </a:p>
        </p:txBody>
      </p:sp>
      <p:sp>
        <p:nvSpPr>
          <p:cNvPr id="199" name="Google Shape;199;p20"/>
          <p:cNvSpPr/>
          <p:nvPr/>
        </p:nvSpPr>
        <p:spPr>
          <a:xfrm>
            <a:off x="6796087" y="5801439"/>
            <a:ext cx="7040523" cy="508159"/>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250"/>
              <a:buFont typeface="Open Sans"/>
              <a:buNone/>
            </a:pPr>
            <a:r>
              <a:rPr b="0" i="0" lang="en-US" sz="1250" u="none" cap="none" strike="noStrike">
                <a:solidFill>
                  <a:srgbClr val="333F70"/>
                </a:solidFill>
                <a:latin typeface="Open Sans"/>
                <a:ea typeface="Open Sans"/>
                <a:cs typeface="Open Sans"/>
                <a:sym typeface="Open Sans"/>
              </a:rPr>
              <a:t>Clear documentation of decisions, rationales, and alternatives supports governance requirements while maintaining development agility.</a:t>
            </a:r>
            <a:endParaRPr b="0" i="0" sz="1250" u="none" cap="none" strike="noStrike"/>
          </a:p>
        </p:txBody>
      </p:sp>
      <p:sp>
        <p:nvSpPr>
          <p:cNvPr id="200" name="Google Shape;200;p20"/>
          <p:cNvSpPr/>
          <p:nvPr/>
        </p:nvSpPr>
        <p:spPr>
          <a:xfrm>
            <a:off x="6280190" y="6488192"/>
            <a:ext cx="7556421" cy="762238"/>
          </a:xfrm>
          <a:prstGeom prst="rect">
            <a:avLst/>
          </a:prstGeom>
          <a:noFill/>
          <a:ln>
            <a:noFill/>
          </a:ln>
        </p:spPr>
        <p:txBody>
          <a:bodyPr anchorCtr="0" anchor="t" bIns="0" lIns="0" spcFirstLastPara="1" rIns="0" wrap="square" tIns="0">
            <a:noAutofit/>
          </a:bodyPr>
          <a:lstStyle/>
          <a:p>
            <a:pPr indent="0" lvl="0" marL="0" marR="0" rtl="0" algn="l">
              <a:lnSpc>
                <a:spcPct val="160000"/>
              </a:lnSpc>
              <a:spcBef>
                <a:spcPts val="0"/>
              </a:spcBef>
              <a:spcAft>
                <a:spcPts val="0"/>
              </a:spcAft>
              <a:buClr>
                <a:srgbClr val="333F70"/>
              </a:buClr>
              <a:buSzPts val="1250"/>
              <a:buFont typeface="Open Sans"/>
              <a:buNone/>
            </a:pPr>
            <a:r>
              <a:rPr b="0" i="0" lang="en-US" sz="1250" u="none" cap="none" strike="noStrike">
                <a:solidFill>
                  <a:srgbClr val="333F70"/>
                </a:solidFill>
                <a:latin typeface="Open Sans"/>
                <a:ea typeface="Open Sans"/>
                <a:cs typeface="Open Sans"/>
                <a:sym typeface="Open Sans"/>
              </a:rPr>
              <a:t>By implementing this ADR process, your organization will benefit from clearer technical direction, reduced decision fatigue, and a stronger architectural foundation. The process is designed to be lightweight yet thorough, supporting both innovation and stability.</a:t>
            </a:r>
            <a:endParaRPr b="0" i="0" sz="1250" u="none" cap="none" strike="noStrike"/>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